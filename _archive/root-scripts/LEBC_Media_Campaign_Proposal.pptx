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03520"/>
            <a:ext cx="12188952" cy="10972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822960"/>
            <a:ext cx="10058400" cy="1097280"/>
          </a:xfrm>
          <a:prstGeom prst="rect">
            <a:avLst/>
          </a:prstGeom>
          <a:noFill/>
        </p:spPr>
        <p:txBody>
          <a:bodyPr wrap="square">
            <a:spAutoFit/>
          </a:bodyPr>
          <a:lstStyle/>
          <a:p>
            <a:pPr algn="ctr"/>
            <a:r>
              <a:rPr sz="5200" b="1" i="0">
                <a:solidFill>
                  <a:srgbClr val="FFFFFF"/>
                </a:solidFill>
                <a:latin typeface="Calibri"/>
              </a:rPr>
              <a:t>LEBC HUTTO</a:t>
            </a:r>
          </a:p>
        </p:txBody>
      </p:sp>
      <p:sp>
        <p:nvSpPr>
          <p:cNvPr id="5" name="TextBox 4"/>
          <p:cNvSpPr txBox="1"/>
          <p:nvPr/>
        </p:nvSpPr>
        <p:spPr>
          <a:xfrm>
            <a:off x="914400" y="1828800"/>
            <a:ext cx="10058400" cy="731520"/>
          </a:xfrm>
          <a:prstGeom prst="rect">
            <a:avLst/>
          </a:prstGeom>
          <a:noFill/>
        </p:spPr>
        <p:txBody>
          <a:bodyPr wrap="square">
            <a:spAutoFit/>
          </a:bodyPr>
          <a:lstStyle/>
          <a:p>
            <a:pPr algn="ctr"/>
            <a:r>
              <a:rPr sz="2600" b="0" i="0">
                <a:solidFill>
                  <a:srgbClr val="C9A84C"/>
                </a:solidFill>
                <a:latin typeface="Calibri"/>
              </a:rPr>
              <a:t>Digital Media &amp; Growth Strategy</a:t>
            </a:r>
          </a:p>
        </p:txBody>
      </p:sp>
      <p:sp>
        <p:nvSpPr>
          <p:cNvPr id="6" name="TextBox 5"/>
          <p:cNvSpPr txBox="1"/>
          <p:nvPr/>
        </p:nvSpPr>
        <p:spPr>
          <a:xfrm>
            <a:off x="914400" y="2560320"/>
            <a:ext cx="10058400" cy="548640"/>
          </a:xfrm>
          <a:prstGeom prst="rect">
            <a:avLst/>
          </a:prstGeom>
          <a:noFill/>
        </p:spPr>
        <p:txBody>
          <a:bodyPr wrap="square">
            <a:spAutoFit/>
          </a:bodyPr>
          <a:lstStyle/>
          <a:p>
            <a:pPr algn="ctr"/>
            <a:r>
              <a:rPr sz="1500" b="0" i="0">
                <a:solidFill>
                  <a:srgbClr val="CCDDFF"/>
                </a:solidFill>
                <a:latin typeface="Calibri"/>
              </a:rPr>
              <a:t>Sermon Podcast · Youth Media Network · Paid Advertising · Social Media</a:t>
            </a:r>
          </a:p>
        </p:txBody>
      </p:sp>
      <p:sp>
        <p:nvSpPr>
          <p:cNvPr id="7" name="Rectangle 6"/>
          <p:cNvSpPr/>
          <p:nvPr/>
        </p:nvSpPr>
        <p:spPr>
          <a:xfrm>
            <a:off x="4114800" y="3383280"/>
            <a:ext cx="39593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749039"/>
            <a:ext cx="10058400" cy="457200"/>
          </a:xfrm>
          <a:prstGeom prst="rect">
            <a:avLst/>
          </a:prstGeom>
          <a:noFill/>
        </p:spPr>
        <p:txBody>
          <a:bodyPr wrap="square">
            <a:spAutoFit/>
          </a:bodyPr>
          <a:lstStyle/>
          <a:p>
            <a:pPr algn="ctr"/>
            <a:r>
              <a:rPr sz="1300" b="0" i="0">
                <a:solidFill>
                  <a:srgbClr val="AABBDD"/>
                </a:solidFill>
                <a:latin typeface="Calibri"/>
              </a:rPr>
              <a:t>Prepared by S2T Designs  |  May 2026</a:t>
            </a:r>
          </a:p>
        </p:txBody>
      </p:sp>
      <p:sp>
        <p:nvSpPr>
          <p:cNvPr id="9" name="TextBox 8"/>
          <p:cNvSpPr txBox="1"/>
          <p:nvPr/>
        </p:nvSpPr>
        <p:spPr>
          <a:xfrm>
            <a:off x="914400" y="4206240"/>
            <a:ext cx="10058400" cy="457200"/>
          </a:xfrm>
          <a:prstGeom prst="rect">
            <a:avLst/>
          </a:prstGeom>
          <a:noFill/>
        </p:spPr>
        <p:txBody>
          <a:bodyPr wrap="square">
            <a:spAutoFit/>
          </a:bodyPr>
          <a:lstStyle/>
          <a:p>
            <a:pPr algn="ctr"/>
            <a:r>
              <a:rPr sz="1300" b="0" i="0">
                <a:solidFill>
                  <a:srgbClr val="AABBDD"/>
                </a:solidFill>
                <a:latin typeface="Calibri"/>
              </a:rPr>
              <a:t>Presented to Pastor Arthur L. Spence  |  Little Ebenezer Baptist Church</a:t>
            </a:r>
          </a:p>
        </p:txBody>
      </p:sp>
      <p:sp>
        <p:nvSpPr>
          <p:cNvPr id="10" name="TextBox 9"/>
          <p:cNvSpPr txBox="1"/>
          <p:nvPr/>
        </p:nvSpPr>
        <p:spPr>
          <a:xfrm>
            <a:off x="914400" y="6217920"/>
            <a:ext cx="10058400" cy="365760"/>
          </a:xfrm>
          <a:prstGeom prst="rect">
            <a:avLst/>
          </a:prstGeom>
          <a:noFill/>
        </p:spPr>
        <p:txBody>
          <a:bodyPr wrap="square">
            <a:spAutoFit/>
          </a:bodyPr>
          <a:lstStyle/>
          <a:p>
            <a:pPr algn="ctr"/>
            <a:r>
              <a:rPr sz="1000" b="0" i="0">
                <a:solidFill>
                  <a:srgbClr val="8899BB"/>
                </a:solidFill>
                <a:latin typeface="Calibri"/>
              </a:rPr>
              <a:t>CONFIDENTIAL — S2T DESIGNS CLIENT PROPOSAL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594360"/>
          </a:xfrm>
          <a:prstGeom prst="rect">
            <a:avLst/>
          </a:prstGeom>
          <a:noFill/>
        </p:spPr>
        <p:txBody>
          <a:bodyPr wrap="square">
            <a:spAutoFit/>
          </a:bodyPr>
          <a:lstStyle/>
          <a:p>
            <a:pPr algn="l"/>
            <a:r>
              <a:rPr sz="2800" b="1" i="0">
                <a:solidFill>
                  <a:srgbClr val="FFFFFF"/>
                </a:solidFill>
                <a:latin typeface="Calibri"/>
              </a:rPr>
              <a:t>WHERE YOU ARE TODAY</a:t>
            </a:r>
          </a:p>
        </p:txBody>
      </p:sp>
      <p:sp>
        <p:nvSpPr>
          <p:cNvPr id="5" name="Rectangle 4"/>
          <p:cNvSpPr/>
          <p:nvPr/>
        </p:nvSpPr>
        <p:spPr>
          <a:xfrm>
            <a:off x="365760" y="804672"/>
            <a:ext cx="22860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2057400" cy="146304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325880"/>
            <a:ext cx="2057400" cy="822960"/>
          </a:xfrm>
          <a:prstGeom prst="rect">
            <a:avLst/>
          </a:prstGeom>
          <a:noFill/>
        </p:spPr>
        <p:txBody>
          <a:bodyPr wrap="square">
            <a:spAutoFit/>
          </a:bodyPr>
          <a:lstStyle/>
          <a:p>
            <a:pPr algn="ctr"/>
            <a:r>
              <a:rPr sz="3600" b="1" i="0">
                <a:solidFill>
                  <a:srgbClr val="FFFFFF"/>
                </a:solidFill>
                <a:latin typeface="Calibri"/>
              </a:rPr>
              <a:t>670</a:t>
            </a:r>
          </a:p>
        </p:txBody>
      </p:sp>
      <p:sp>
        <p:nvSpPr>
          <p:cNvPr id="8" name="TextBox 7"/>
          <p:cNvSpPr txBox="1"/>
          <p:nvPr/>
        </p:nvSpPr>
        <p:spPr>
          <a:xfrm>
            <a:off x="320040" y="2057400"/>
            <a:ext cx="2057400" cy="640080"/>
          </a:xfrm>
          <a:prstGeom prst="rect">
            <a:avLst/>
          </a:prstGeom>
          <a:noFill/>
        </p:spPr>
        <p:txBody>
          <a:bodyPr wrap="square">
            <a:spAutoFit/>
          </a:bodyPr>
          <a:lstStyle/>
          <a:p>
            <a:pPr algn="ctr"/>
            <a:r>
              <a:rPr sz="1100" b="0" i="0">
                <a:solidFill>
                  <a:srgbClr val="FFFFFF"/>
                </a:solidFill>
                <a:latin typeface="Calibri"/>
              </a:rPr>
              <a:t>YouTube Videos
Uploaded Since 2021</a:t>
            </a:r>
          </a:p>
        </p:txBody>
      </p:sp>
      <p:sp>
        <p:nvSpPr>
          <p:cNvPr id="9" name="Rectangle 8"/>
          <p:cNvSpPr/>
          <p:nvPr/>
        </p:nvSpPr>
        <p:spPr>
          <a:xfrm>
            <a:off x="2651760" y="1234440"/>
            <a:ext cx="2057400" cy="1463040"/>
          </a:xfrm>
          <a:prstGeom prst="rect">
            <a:avLst/>
          </a:prstGeom>
          <a:solidFill>
            <a:srgbClr val="2B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51760" y="1325880"/>
            <a:ext cx="2057400" cy="822960"/>
          </a:xfrm>
          <a:prstGeom prst="rect">
            <a:avLst/>
          </a:prstGeom>
          <a:noFill/>
        </p:spPr>
        <p:txBody>
          <a:bodyPr wrap="square">
            <a:spAutoFit/>
          </a:bodyPr>
          <a:lstStyle/>
          <a:p>
            <a:pPr algn="ctr"/>
            <a:r>
              <a:rPr sz="3600" b="1" i="0">
                <a:solidFill>
                  <a:srgbClr val="FFFFFF"/>
                </a:solidFill>
                <a:latin typeface="Calibri"/>
              </a:rPr>
              <a:t>937</a:t>
            </a:r>
          </a:p>
        </p:txBody>
      </p:sp>
      <p:sp>
        <p:nvSpPr>
          <p:cNvPr id="11" name="TextBox 10"/>
          <p:cNvSpPr txBox="1"/>
          <p:nvPr/>
        </p:nvSpPr>
        <p:spPr>
          <a:xfrm>
            <a:off x="2651760" y="2057400"/>
            <a:ext cx="2057400" cy="640080"/>
          </a:xfrm>
          <a:prstGeom prst="rect">
            <a:avLst/>
          </a:prstGeom>
          <a:noFill/>
        </p:spPr>
        <p:txBody>
          <a:bodyPr wrap="square">
            <a:spAutoFit/>
          </a:bodyPr>
          <a:lstStyle/>
          <a:p>
            <a:pPr algn="ctr"/>
            <a:r>
              <a:rPr sz="1100" b="0" i="0">
                <a:solidFill>
                  <a:srgbClr val="FFFFFF"/>
                </a:solidFill>
                <a:latin typeface="Calibri"/>
              </a:rPr>
              <a:t>Facebook
Followers</a:t>
            </a:r>
          </a:p>
        </p:txBody>
      </p:sp>
      <p:sp>
        <p:nvSpPr>
          <p:cNvPr id="12" name="Rectangle 11"/>
          <p:cNvSpPr/>
          <p:nvPr/>
        </p:nvSpPr>
        <p:spPr>
          <a:xfrm>
            <a:off x="4983479" y="1234440"/>
            <a:ext cx="2057400" cy="14630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83479" y="1325880"/>
            <a:ext cx="2057400" cy="822960"/>
          </a:xfrm>
          <a:prstGeom prst="rect">
            <a:avLst/>
          </a:prstGeom>
          <a:noFill/>
        </p:spPr>
        <p:txBody>
          <a:bodyPr wrap="square">
            <a:spAutoFit/>
          </a:bodyPr>
          <a:lstStyle/>
          <a:p>
            <a:pPr algn="ctr"/>
            <a:r>
              <a:rPr sz="3600" b="1" i="0">
                <a:solidFill>
                  <a:srgbClr val="FFFFFF"/>
                </a:solidFill>
                <a:latin typeface="Calibri"/>
              </a:rPr>
              <a:t>17</a:t>
            </a:r>
          </a:p>
        </p:txBody>
      </p:sp>
      <p:sp>
        <p:nvSpPr>
          <p:cNvPr id="14" name="TextBox 13"/>
          <p:cNvSpPr txBox="1"/>
          <p:nvPr/>
        </p:nvSpPr>
        <p:spPr>
          <a:xfrm>
            <a:off x="4983479" y="2057400"/>
            <a:ext cx="2057400" cy="640080"/>
          </a:xfrm>
          <a:prstGeom prst="rect">
            <a:avLst/>
          </a:prstGeom>
          <a:noFill/>
        </p:spPr>
        <p:txBody>
          <a:bodyPr wrap="square">
            <a:spAutoFit/>
          </a:bodyPr>
          <a:lstStyle/>
          <a:p>
            <a:pPr algn="ctr"/>
            <a:r>
              <a:rPr sz="1100" b="0" i="0">
                <a:solidFill>
                  <a:srgbClr val="FFFFFF"/>
                </a:solidFill>
                <a:latin typeface="Calibri"/>
              </a:rPr>
              <a:t>Instagram
Followers</a:t>
            </a:r>
          </a:p>
        </p:txBody>
      </p:sp>
      <p:sp>
        <p:nvSpPr>
          <p:cNvPr id="15" name="Rectangle 14"/>
          <p:cNvSpPr/>
          <p:nvPr/>
        </p:nvSpPr>
        <p:spPr>
          <a:xfrm>
            <a:off x="7315199" y="1234440"/>
            <a:ext cx="2057400" cy="146304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199" y="1325880"/>
            <a:ext cx="2057400" cy="822960"/>
          </a:xfrm>
          <a:prstGeom prst="rect">
            <a:avLst/>
          </a:prstGeom>
          <a:noFill/>
        </p:spPr>
        <p:txBody>
          <a:bodyPr wrap="square">
            <a:spAutoFit/>
          </a:bodyPr>
          <a:lstStyle/>
          <a:p>
            <a:pPr algn="ctr"/>
            <a:r>
              <a:rPr sz="3600" b="1" i="0">
                <a:solidFill>
                  <a:srgbClr val="FFFFFF"/>
                </a:solidFill>
                <a:latin typeface="Calibri"/>
              </a:rPr>
              <a:t>~100</a:t>
            </a:r>
          </a:p>
        </p:txBody>
      </p:sp>
      <p:sp>
        <p:nvSpPr>
          <p:cNvPr id="17" name="TextBox 16"/>
          <p:cNvSpPr txBox="1"/>
          <p:nvPr/>
        </p:nvSpPr>
        <p:spPr>
          <a:xfrm>
            <a:off x="7315199" y="2057400"/>
            <a:ext cx="2057400" cy="640080"/>
          </a:xfrm>
          <a:prstGeom prst="rect">
            <a:avLst/>
          </a:prstGeom>
          <a:noFill/>
        </p:spPr>
        <p:txBody>
          <a:bodyPr wrap="square">
            <a:spAutoFit/>
          </a:bodyPr>
          <a:lstStyle/>
          <a:p>
            <a:pPr algn="ctr"/>
            <a:r>
              <a:rPr sz="1100" b="0" i="0">
                <a:solidFill>
                  <a:srgbClr val="FFFFFF"/>
                </a:solidFill>
                <a:latin typeface="Calibri"/>
              </a:rPr>
              <a:t>YouTube
Subscribers</a:t>
            </a:r>
          </a:p>
        </p:txBody>
      </p:sp>
      <p:sp>
        <p:nvSpPr>
          <p:cNvPr id="18" name="Rectangle 17"/>
          <p:cNvSpPr/>
          <p:nvPr/>
        </p:nvSpPr>
        <p:spPr>
          <a:xfrm>
            <a:off x="9646919" y="1234440"/>
            <a:ext cx="2057400" cy="14630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46919" y="1325880"/>
            <a:ext cx="2057400" cy="822960"/>
          </a:xfrm>
          <a:prstGeom prst="rect">
            <a:avLst/>
          </a:prstGeom>
          <a:noFill/>
        </p:spPr>
        <p:txBody>
          <a:bodyPr wrap="square">
            <a:spAutoFit/>
          </a:bodyPr>
          <a:lstStyle/>
          <a:p>
            <a:pPr algn="ctr"/>
            <a:r>
              <a:rPr sz="3600" b="1" i="0">
                <a:solidFill>
                  <a:srgbClr val="1A3A6B"/>
                </a:solidFill>
                <a:latin typeface="Calibri"/>
              </a:rPr>
              <a:t>119</a:t>
            </a:r>
          </a:p>
        </p:txBody>
      </p:sp>
      <p:sp>
        <p:nvSpPr>
          <p:cNvPr id="20" name="TextBox 19"/>
          <p:cNvSpPr txBox="1"/>
          <p:nvPr/>
        </p:nvSpPr>
        <p:spPr>
          <a:xfrm>
            <a:off x="9646919" y="2057400"/>
            <a:ext cx="2057400" cy="640080"/>
          </a:xfrm>
          <a:prstGeom prst="rect">
            <a:avLst/>
          </a:prstGeom>
          <a:noFill/>
        </p:spPr>
        <p:txBody>
          <a:bodyPr wrap="square">
            <a:spAutoFit/>
          </a:bodyPr>
          <a:lstStyle/>
          <a:p>
            <a:pPr algn="ctr"/>
            <a:r>
              <a:rPr sz="1100" b="0" i="0">
                <a:solidFill>
                  <a:srgbClr val="1A3A6B"/>
                </a:solidFill>
                <a:latin typeface="Calibri"/>
              </a:rPr>
              <a:t>Years of
Faith &amp; Service</a:t>
            </a:r>
          </a:p>
        </p:txBody>
      </p:sp>
      <p:sp>
        <p:nvSpPr>
          <p:cNvPr id="21" name="Rectangle 20"/>
          <p:cNvSpPr/>
          <p:nvPr/>
        </p:nvSpPr>
        <p:spPr>
          <a:xfrm>
            <a:off x="320040" y="2926080"/>
            <a:ext cx="5394960" cy="3566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35040" y="2926080"/>
            <a:ext cx="5833872" cy="3566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3017520"/>
            <a:ext cx="5029200" cy="411480"/>
          </a:xfrm>
          <a:prstGeom prst="rect">
            <a:avLst/>
          </a:prstGeom>
          <a:noFill/>
        </p:spPr>
        <p:txBody>
          <a:bodyPr wrap="square">
            <a:spAutoFit/>
          </a:bodyPr>
          <a:lstStyle/>
          <a:p>
            <a:pPr algn="l"/>
            <a:r>
              <a:rPr sz="1300" b="1" i="0">
                <a:solidFill>
                  <a:srgbClr val="1A3A6B"/>
                </a:solidFill>
                <a:latin typeface="Calibri"/>
              </a:rPr>
              <a:t>✅  STRENGTHS</a:t>
            </a:r>
          </a:p>
        </p:txBody>
      </p:sp>
      <p:sp>
        <p:nvSpPr>
          <p:cNvPr id="24" name="TextBox 23"/>
          <p:cNvSpPr txBox="1"/>
          <p:nvPr/>
        </p:nvSpPr>
        <p:spPr>
          <a:xfrm>
            <a:off x="502920" y="3429000"/>
            <a:ext cx="5029200" cy="2743200"/>
          </a:xfrm>
          <a:prstGeom prst="rect">
            <a:avLst/>
          </a:prstGeom>
          <a:noFill/>
        </p:spPr>
        <p:txBody>
          <a:bodyPr wrap="square">
            <a:spAutoFit/>
          </a:bodyPr>
          <a:lstStyle/>
          <a:p>
            <a:pPr algn="l">
              <a:spcBef>
                <a:spcPts val="400"/>
              </a:spcBef>
            </a:pPr>
            <a:r>
              <a:rPr sz="1100" b="0">
                <a:solidFill>
                  <a:srgbClr val="333333"/>
                </a:solidFill>
                <a:latin typeface="Calibri"/>
              </a:rPr>
              <a:t>✓  Active YouTube — streaming Sunday services since 2021</a:t>
            </a:r>
          </a:p>
          <a:p>
            <a:pPr algn="l">
              <a:spcBef>
                <a:spcPts val="400"/>
              </a:spcBef>
            </a:pPr>
            <a:r>
              <a:rPr sz="1100" b="0">
                <a:solidFill>
                  <a:srgbClr val="333333"/>
                </a:solidFill>
                <a:latin typeface="Calibri"/>
              </a:rPr>
              <a:t>✓  937 Facebook followers with 100% positive reviews</a:t>
            </a:r>
          </a:p>
          <a:p>
            <a:pPr algn="l">
              <a:spcBef>
                <a:spcPts val="400"/>
              </a:spcBef>
            </a:pPr>
            <a:r>
              <a:rPr sz="1100" b="0">
                <a:solidFill>
                  <a:srgbClr val="333333"/>
                </a:solidFill>
                <a:latin typeface="Calibri"/>
              </a:rPr>
              <a:t>✓  Active posting — Memorial Day video posted today</a:t>
            </a:r>
          </a:p>
          <a:p>
            <a:pPr algn="l">
              <a:spcBef>
                <a:spcPts val="400"/>
              </a:spcBef>
            </a:pPr>
            <a:r>
              <a:rPr sz="1100" b="0">
                <a:solidFill>
                  <a:srgbClr val="333333"/>
                </a:solidFill>
                <a:latin typeface="Calibri"/>
              </a:rPr>
              <a:t>✓  Strong 119-year brand story</a:t>
            </a:r>
          </a:p>
          <a:p>
            <a:pPr algn="l">
              <a:spcBef>
                <a:spcPts val="400"/>
              </a:spcBef>
            </a:pPr>
            <a:r>
              <a:rPr sz="1100" b="0">
                <a:solidFill>
                  <a:srgbClr val="333333"/>
                </a:solidFill>
                <a:latin typeface="Calibri"/>
              </a:rPr>
              <a:t>✓  Multicultural identity — broad community appeal</a:t>
            </a:r>
          </a:p>
          <a:p>
            <a:pPr algn="l">
              <a:spcBef>
                <a:spcPts val="400"/>
              </a:spcBef>
            </a:pPr>
            <a:r>
              <a:rPr sz="1100" b="0">
                <a:solidFill>
                  <a:srgbClr val="333333"/>
                </a:solidFill>
                <a:latin typeface="Calibri"/>
              </a:rPr>
              <a:t>✓  Youth ministry spanning toddlers to age 25</a:t>
            </a:r>
          </a:p>
        </p:txBody>
      </p:sp>
      <p:sp>
        <p:nvSpPr>
          <p:cNvPr id="25" name="TextBox 24"/>
          <p:cNvSpPr txBox="1"/>
          <p:nvPr/>
        </p:nvSpPr>
        <p:spPr>
          <a:xfrm>
            <a:off x="6217920" y="3017520"/>
            <a:ext cx="5303520" cy="411480"/>
          </a:xfrm>
          <a:prstGeom prst="rect">
            <a:avLst/>
          </a:prstGeom>
          <a:noFill/>
        </p:spPr>
        <p:txBody>
          <a:bodyPr wrap="square">
            <a:spAutoFit/>
          </a:bodyPr>
          <a:lstStyle/>
          <a:p>
            <a:pPr algn="l"/>
            <a:r>
              <a:rPr sz="1300" b="1" i="0">
                <a:solidFill>
                  <a:srgbClr val="C0392B"/>
                </a:solidFill>
                <a:latin typeface="Calibri"/>
              </a:rPr>
              <a:t>⚠️  GAPS TO CLOSE</a:t>
            </a:r>
          </a:p>
        </p:txBody>
      </p:sp>
      <p:sp>
        <p:nvSpPr>
          <p:cNvPr id="26" name="TextBox 25"/>
          <p:cNvSpPr txBox="1"/>
          <p:nvPr/>
        </p:nvSpPr>
        <p:spPr>
          <a:xfrm>
            <a:off x="6217920" y="3429000"/>
            <a:ext cx="5303520" cy="2743200"/>
          </a:xfrm>
          <a:prstGeom prst="rect">
            <a:avLst/>
          </a:prstGeom>
          <a:noFill/>
        </p:spPr>
        <p:txBody>
          <a:bodyPr wrap="square">
            <a:spAutoFit/>
          </a:bodyPr>
          <a:lstStyle/>
          <a:p>
            <a:pPr algn="l">
              <a:spcBef>
                <a:spcPts val="400"/>
              </a:spcBef>
            </a:pPr>
            <a:r>
              <a:rPr sz="1100" b="0">
                <a:solidFill>
                  <a:srgbClr val="333333"/>
                </a:solidFill>
                <a:latin typeface="Calibri"/>
              </a:rPr>
              <a:t>✗  Instagram nearly dormant — only 17 followers</a:t>
            </a:r>
          </a:p>
          <a:p>
            <a:pPr algn="l">
              <a:spcBef>
                <a:spcPts val="400"/>
              </a:spcBef>
            </a:pPr>
            <a:r>
              <a:rPr sz="1100" b="0">
                <a:solidFill>
                  <a:srgbClr val="333333"/>
                </a:solidFill>
                <a:latin typeface="Calibri"/>
              </a:rPr>
              <a:t>✗  No podcast presence on Spotify or Apple</a:t>
            </a:r>
          </a:p>
          <a:p>
            <a:pPr algn="l">
              <a:spcBef>
                <a:spcPts val="400"/>
              </a:spcBef>
            </a:pPr>
            <a:r>
              <a:rPr sz="1100" b="0">
                <a:solidFill>
                  <a:srgbClr val="333333"/>
                </a:solidFill>
                <a:latin typeface="Calibri"/>
              </a:rPr>
              <a:t>✗  YouTube not connected to Facebook or Instagram</a:t>
            </a:r>
          </a:p>
          <a:p>
            <a:pPr algn="l">
              <a:spcBef>
                <a:spcPts val="400"/>
              </a:spcBef>
            </a:pPr>
            <a:r>
              <a:rPr sz="1100" b="0">
                <a:solidFill>
                  <a:srgbClr val="333333"/>
                </a:solidFill>
                <a:latin typeface="Calibri"/>
              </a:rPr>
              <a:t>✗  No Google Business listing — invisible on Maps</a:t>
            </a:r>
          </a:p>
          <a:p>
            <a:pPr algn="l">
              <a:spcBef>
                <a:spcPts val="400"/>
              </a:spcBef>
            </a:pPr>
            <a:r>
              <a:rPr sz="1100" b="0">
                <a:solidFill>
                  <a:srgbClr val="333333"/>
                </a:solidFill>
                <a:latin typeface="Calibri"/>
              </a:rPr>
              <a:t>✗  No paid advertising — zero new visitor outreach</a:t>
            </a:r>
          </a:p>
          <a:p>
            <a:pPr algn="l">
              <a:spcBef>
                <a:spcPts val="400"/>
              </a:spcBef>
            </a:pPr>
            <a:r>
              <a:rPr sz="1100" b="0">
                <a:solidFill>
                  <a:srgbClr val="333333"/>
                </a:solidFill>
                <a:latin typeface="Calibri"/>
              </a:rPr>
              <a:t>✗  No structured content calendar or strategy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640080"/>
          </a:xfrm>
          <a:prstGeom prst="rect">
            <a:avLst/>
          </a:prstGeom>
          <a:noFill/>
        </p:spPr>
        <p:txBody>
          <a:bodyPr wrap="square">
            <a:spAutoFit/>
          </a:bodyPr>
          <a:lstStyle/>
          <a:p>
            <a:pPr algn="l"/>
            <a:r>
              <a:rPr sz="3000" b="1" i="0">
                <a:solidFill>
                  <a:srgbClr val="FFFFFF"/>
                </a:solidFill>
                <a:latin typeface="Calibri"/>
              </a:rPr>
              <a:t>THE OPPORTUNITY</a:t>
            </a:r>
          </a:p>
        </p:txBody>
      </p:sp>
      <p:sp>
        <p:nvSpPr>
          <p:cNvPr id="5" name="Rectangle 4"/>
          <p:cNvSpPr/>
          <p:nvPr/>
        </p:nvSpPr>
        <p:spPr>
          <a:xfrm>
            <a:off x="502920" y="868680"/>
            <a:ext cx="32004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51560"/>
            <a:ext cx="11247120" cy="822960"/>
          </a:xfrm>
          <a:prstGeom prst="rect">
            <a:avLst/>
          </a:prstGeom>
          <a:noFill/>
        </p:spPr>
        <p:txBody>
          <a:bodyPr wrap="square">
            <a:spAutoFit/>
          </a:bodyPr>
          <a:lstStyle/>
          <a:p>
            <a:pPr algn="l"/>
            <a:r>
              <a:rPr sz="1500" b="0" i="0">
                <a:solidFill>
                  <a:srgbClr val="CCDDFF"/>
                </a:solidFill>
                <a:latin typeface="Calibri"/>
              </a:rPr>
              <a:t>Hutto is one of the fastest-growing suburbs in Texas.
LEBC has a 119-year story — and almost no one outside the congregation knows it.</a:t>
            </a:r>
          </a:p>
        </p:txBody>
      </p:sp>
      <p:sp>
        <p:nvSpPr>
          <p:cNvPr id="7" name="Rectangle 6"/>
          <p:cNvSpPr/>
          <p:nvPr/>
        </p:nvSpPr>
        <p:spPr>
          <a:xfrm>
            <a:off x="502920" y="1920240"/>
            <a:ext cx="594360" cy="8229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011680"/>
            <a:ext cx="594360" cy="640080"/>
          </a:xfrm>
          <a:prstGeom prst="rect">
            <a:avLst/>
          </a:prstGeom>
          <a:noFill/>
        </p:spPr>
        <p:txBody>
          <a:bodyPr wrap="square">
            <a:spAutoFit/>
          </a:bodyPr>
          <a:lstStyle/>
          <a:p>
            <a:pPr algn="ctr"/>
            <a:r>
              <a:rPr sz="2000" b="0" i="0">
                <a:solidFill>
                  <a:srgbClr val="FFFFFF"/>
                </a:solidFill>
                <a:latin typeface="Calibri"/>
              </a:rPr>
              <a:t>📍</a:t>
            </a:r>
          </a:p>
        </p:txBody>
      </p:sp>
      <p:sp>
        <p:nvSpPr>
          <p:cNvPr id="9" name="TextBox 8"/>
          <p:cNvSpPr txBox="1"/>
          <p:nvPr/>
        </p:nvSpPr>
        <p:spPr>
          <a:xfrm>
            <a:off x="1234440" y="1965960"/>
            <a:ext cx="2926080" cy="365760"/>
          </a:xfrm>
          <a:prstGeom prst="rect">
            <a:avLst/>
          </a:prstGeom>
          <a:noFill/>
        </p:spPr>
        <p:txBody>
          <a:bodyPr wrap="square">
            <a:spAutoFit/>
          </a:bodyPr>
          <a:lstStyle/>
          <a:p>
            <a:pPr algn="l"/>
            <a:r>
              <a:rPr sz="1300" b="1" i="0">
                <a:solidFill>
                  <a:srgbClr val="C9A84C"/>
                </a:solidFill>
                <a:latin typeface="Calibri"/>
              </a:rPr>
              <a:t>Local Search Visibility</a:t>
            </a:r>
          </a:p>
        </p:txBody>
      </p:sp>
      <p:sp>
        <p:nvSpPr>
          <p:cNvPr id="10" name="TextBox 9"/>
          <p:cNvSpPr txBox="1"/>
          <p:nvPr/>
        </p:nvSpPr>
        <p:spPr>
          <a:xfrm>
            <a:off x="1234440" y="2304288"/>
            <a:ext cx="10241280" cy="502920"/>
          </a:xfrm>
          <a:prstGeom prst="rect">
            <a:avLst/>
          </a:prstGeom>
          <a:noFill/>
        </p:spPr>
        <p:txBody>
          <a:bodyPr wrap="square">
            <a:spAutoFit/>
          </a:bodyPr>
          <a:lstStyle/>
          <a:p>
            <a:pPr algn="l"/>
            <a:r>
              <a:rPr sz="1150" b="0" i="0">
                <a:solidFill>
                  <a:srgbClr val="CCDDFF"/>
                </a:solidFill>
                <a:latin typeface="Calibri"/>
              </a:rPr>
              <a:t>Families moving to Hutto search 'Baptist church near me' every week. Without a Google Business listing, LEBC is invisible to them.</a:t>
            </a:r>
          </a:p>
        </p:txBody>
      </p:sp>
      <p:sp>
        <p:nvSpPr>
          <p:cNvPr id="11" name="Rectangle 10"/>
          <p:cNvSpPr/>
          <p:nvPr/>
        </p:nvSpPr>
        <p:spPr>
          <a:xfrm>
            <a:off x="502920" y="3017520"/>
            <a:ext cx="594360" cy="8229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3108960"/>
            <a:ext cx="594360" cy="640080"/>
          </a:xfrm>
          <a:prstGeom prst="rect">
            <a:avLst/>
          </a:prstGeom>
          <a:noFill/>
        </p:spPr>
        <p:txBody>
          <a:bodyPr wrap="square">
            <a:spAutoFit/>
          </a:bodyPr>
          <a:lstStyle/>
          <a:p>
            <a:pPr algn="ctr"/>
            <a:r>
              <a:rPr sz="2000" b="0" i="0">
                <a:solidFill>
                  <a:srgbClr val="FFFFFF"/>
                </a:solidFill>
                <a:latin typeface="Calibri"/>
              </a:rPr>
              <a:t>🎙️</a:t>
            </a:r>
          </a:p>
        </p:txBody>
      </p:sp>
      <p:sp>
        <p:nvSpPr>
          <p:cNvPr id="13" name="TextBox 12"/>
          <p:cNvSpPr txBox="1"/>
          <p:nvPr/>
        </p:nvSpPr>
        <p:spPr>
          <a:xfrm>
            <a:off x="1234440" y="3063239"/>
            <a:ext cx="2926080" cy="365760"/>
          </a:xfrm>
          <a:prstGeom prst="rect">
            <a:avLst/>
          </a:prstGeom>
          <a:noFill/>
        </p:spPr>
        <p:txBody>
          <a:bodyPr wrap="square">
            <a:spAutoFit/>
          </a:bodyPr>
          <a:lstStyle/>
          <a:p>
            <a:pPr algn="l"/>
            <a:r>
              <a:rPr sz="1300" b="1" i="0">
                <a:solidFill>
                  <a:srgbClr val="C9A84C"/>
                </a:solidFill>
                <a:latin typeface="Calibri"/>
              </a:rPr>
              <a:t>Faith Podcast Market</a:t>
            </a:r>
          </a:p>
        </p:txBody>
      </p:sp>
      <p:sp>
        <p:nvSpPr>
          <p:cNvPr id="14" name="TextBox 13"/>
          <p:cNvSpPr txBox="1"/>
          <p:nvPr/>
        </p:nvSpPr>
        <p:spPr>
          <a:xfrm>
            <a:off x="1234440" y="3401568"/>
            <a:ext cx="10241280" cy="502920"/>
          </a:xfrm>
          <a:prstGeom prst="rect">
            <a:avLst/>
          </a:prstGeom>
          <a:noFill/>
        </p:spPr>
        <p:txBody>
          <a:bodyPr wrap="square">
            <a:spAutoFit/>
          </a:bodyPr>
          <a:lstStyle/>
          <a:p>
            <a:pPr algn="l"/>
            <a:r>
              <a:rPr sz="1150" b="0" i="0">
                <a:solidFill>
                  <a:srgbClr val="CCDDFF"/>
                </a:solidFill>
                <a:latin typeface="Calibri"/>
              </a:rPr>
              <a:t>Christian podcasts are the #1 fastest-growing podcast category. LEBC already has 670 recorded sermons — none of it on Spotify or Apple.</a:t>
            </a:r>
          </a:p>
        </p:txBody>
      </p:sp>
      <p:sp>
        <p:nvSpPr>
          <p:cNvPr id="15" name="Rectangle 14"/>
          <p:cNvSpPr/>
          <p:nvPr/>
        </p:nvSpPr>
        <p:spPr>
          <a:xfrm>
            <a:off x="502920" y="4114800"/>
            <a:ext cx="594360" cy="8229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206240"/>
            <a:ext cx="594360" cy="640080"/>
          </a:xfrm>
          <a:prstGeom prst="rect">
            <a:avLst/>
          </a:prstGeom>
          <a:noFill/>
        </p:spPr>
        <p:txBody>
          <a:bodyPr wrap="square">
            <a:spAutoFit/>
          </a:bodyPr>
          <a:lstStyle/>
          <a:p>
            <a:pPr algn="ctr"/>
            <a:r>
              <a:rPr sz="2000" b="0" i="0">
                <a:solidFill>
                  <a:srgbClr val="FFFFFF"/>
                </a:solidFill>
                <a:latin typeface="Calibri"/>
              </a:rPr>
              <a:t>👶</a:t>
            </a:r>
          </a:p>
        </p:txBody>
      </p:sp>
      <p:sp>
        <p:nvSpPr>
          <p:cNvPr id="17" name="TextBox 16"/>
          <p:cNvSpPr txBox="1"/>
          <p:nvPr/>
        </p:nvSpPr>
        <p:spPr>
          <a:xfrm>
            <a:off x="1234440" y="4160520"/>
            <a:ext cx="2926080" cy="365760"/>
          </a:xfrm>
          <a:prstGeom prst="rect">
            <a:avLst/>
          </a:prstGeom>
          <a:noFill/>
        </p:spPr>
        <p:txBody>
          <a:bodyPr wrap="square">
            <a:spAutoFit/>
          </a:bodyPr>
          <a:lstStyle/>
          <a:p>
            <a:pPr algn="l"/>
            <a:r>
              <a:rPr sz="1300" b="1" i="0">
                <a:solidFill>
                  <a:srgbClr val="C9A84C"/>
                </a:solidFill>
                <a:latin typeface="Calibri"/>
              </a:rPr>
              <a:t>Youth Faith Media Gap</a:t>
            </a:r>
          </a:p>
        </p:txBody>
      </p:sp>
      <p:sp>
        <p:nvSpPr>
          <p:cNvPr id="18" name="TextBox 17"/>
          <p:cNvSpPr txBox="1"/>
          <p:nvPr/>
        </p:nvSpPr>
        <p:spPr>
          <a:xfrm>
            <a:off x="1234440" y="4498848"/>
            <a:ext cx="10241280" cy="502920"/>
          </a:xfrm>
          <a:prstGeom prst="rect">
            <a:avLst/>
          </a:prstGeom>
          <a:noFill/>
        </p:spPr>
        <p:txBody>
          <a:bodyPr wrap="square">
            <a:spAutoFit/>
          </a:bodyPr>
          <a:lstStyle/>
          <a:p>
            <a:pPr algn="l"/>
            <a:r>
              <a:rPr sz="1150" b="0" i="0">
                <a:solidFill>
                  <a:srgbClr val="CCDDFF"/>
                </a:solidFill>
                <a:latin typeface="Calibri"/>
              </a:rPr>
              <a:t>There is virtually no local youth faith content in Williamson County. LEBC's youth ministry (toddlers–25) can fill that gap and attract young families.</a:t>
            </a:r>
          </a:p>
        </p:txBody>
      </p:sp>
      <p:sp>
        <p:nvSpPr>
          <p:cNvPr id="19" name="Rectangle 18"/>
          <p:cNvSpPr/>
          <p:nvPr/>
        </p:nvSpPr>
        <p:spPr>
          <a:xfrm>
            <a:off x="502920" y="5212079"/>
            <a:ext cx="594360" cy="8229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5303519"/>
            <a:ext cx="594360" cy="640080"/>
          </a:xfrm>
          <a:prstGeom prst="rect">
            <a:avLst/>
          </a:prstGeom>
          <a:noFill/>
        </p:spPr>
        <p:txBody>
          <a:bodyPr wrap="square">
            <a:spAutoFit/>
          </a:bodyPr>
          <a:lstStyle/>
          <a:p>
            <a:pPr algn="ctr"/>
            <a:r>
              <a:rPr sz="2000" b="0" i="0">
                <a:solidFill>
                  <a:srgbClr val="FFFFFF"/>
                </a:solidFill>
                <a:latin typeface="Calibri"/>
              </a:rPr>
              <a:t>📱</a:t>
            </a:r>
          </a:p>
        </p:txBody>
      </p:sp>
      <p:sp>
        <p:nvSpPr>
          <p:cNvPr id="21" name="TextBox 20"/>
          <p:cNvSpPr txBox="1"/>
          <p:nvPr/>
        </p:nvSpPr>
        <p:spPr>
          <a:xfrm>
            <a:off x="1234440" y="5257799"/>
            <a:ext cx="2926080" cy="365760"/>
          </a:xfrm>
          <a:prstGeom prst="rect">
            <a:avLst/>
          </a:prstGeom>
          <a:noFill/>
        </p:spPr>
        <p:txBody>
          <a:bodyPr wrap="square">
            <a:spAutoFit/>
          </a:bodyPr>
          <a:lstStyle/>
          <a:p>
            <a:pPr algn="l"/>
            <a:r>
              <a:rPr sz="1300" b="1" i="0">
                <a:solidFill>
                  <a:srgbClr val="C9A84C"/>
                </a:solidFill>
                <a:latin typeface="Calibri"/>
              </a:rPr>
              <a:t>Social Media Reach</a:t>
            </a:r>
          </a:p>
        </p:txBody>
      </p:sp>
      <p:sp>
        <p:nvSpPr>
          <p:cNvPr id="22" name="TextBox 21"/>
          <p:cNvSpPr txBox="1"/>
          <p:nvPr/>
        </p:nvSpPr>
        <p:spPr>
          <a:xfrm>
            <a:off x="1234440" y="5596127"/>
            <a:ext cx="10241280" cy="502920"/>
          </a:xfrm>
          <a:prstGeom prst="rect">
            <a:avLst/>
          </a:prstGeom>
          <a:noFill/>
        </p:spPr>
        <p:txBody>
          <a:bodyPr wrap="square">
            <a:spAutoFit/>
          </a:bodyPr>
          <a:lstStyle/>
          <a:p>
            <a:pPr algn="l"/>
            <a:r>
              <a:rPr sz="1150" b="0" i="0">
                <a:solidFill>
                  <a:srgbClr val="CCDDFF"/>
                </a:solidFill>
                <a:latin typeface="Calibri"/>
              </a:rPr>
              <a:t>Facebook's algorithm rewards video and Live content — exactly what LEBC is already producing but not amplifying.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594360"/>
          </a:xfrm>
          <a:prstGeom prst="rect">
            <a:avLst/>
          </a:prstGeom>
          <a:noFill/>
        </p:spPr>
        <p:txBody>
          <a:bodyPr wrap="square">
            <a:spAutoFit/>
          </a:bodyPr>
          <a:lstStyle/>
          <a:p>
            <a:pPr algn="l"/>
            <a:r>
              <a:rPr sz="2600" b="1" i="0">
                <a:solidFill>
                  <a:srgbClr val="FFFFFF"/>
                </a:solidFill>
                <a:latin typeface="Calibri"/>
              </a:rPr>
              <a:t>📢  PAID ADVERTISING CAMPAIGN</a:t>
            </a:r>
          </a:p>
        </p:txBody>
      </p:sp>
      <p:sp>
        <p:nvSpPr>
          <p:cNvPr id="5" name="Rectangle 4"/>
          <p:cNvSpPr/>
          <p:nvPr/>
        </p:nvSpPr>
        <p:spPr>
          <a:xfrm>
            <a:off x="365760" y="804672"/>
            <a:ext cx="32004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097280"/>
            <a:ext cx="10972800" cy="411480"/>
          </a:xfrm>
          <a:prstGeom prst="rect">
            <a:avLst/>
          </a:prstGeom>
          <a:noFill/>
        </p:spPr>
        <p:txBody>
          <a:bodyPr wrap="square">
            <a:spAutoFit/>
          </a:bodyPr>
          <a:lstStyle/>
          <a:p>
            <a:pPr algn="l"/>
            <a:r>
              <a:rPr sz="1400" b="1" i="0">
                <a:solidFill>
                  <a:srgbClr val="1A3A6B"/>
                </a:solidFill>
                <a:latin typeface="Calibri"/>
              </a:rPr>
              <a:t>Facebook + Instagram | "Your Church Home in Hutto"</a:t>
            </a:r>
          </a:p>
        </p:txBody>
      </p:sp>
      <p:sp>
        <p:nvSpPr>
          <p:cNvPr id="7" name="Rectangle 6"/>
          <p:cNvSpPr/>
          <p:nvPr/>
        </p:nvSpPr>
        <p:spPr>
          <a:xfrm>
            <a:off x="320040" y="1600200"/>
            <a:ext cx="5486400" cy="4846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737360"/>
            <a:ext cx="5029200" cy="365760"/>
          </a:xfrm>
          <a:prstGeom prst="rect">
            <a:avLst/>
          </a:prstGeom>
          <a:noFill/>
        </p:spPr>
        <p:txBody>
          <a:bodyPr wrap="square">
            <a:spAutoFit/>
          </a:bodyPr>
          <a:lstStyle/>
          <a:p>
            <a:pPr algn="l"/>
            <a:r>
              <a:rPr sz="1200" b="1" i="0">
                <a:solidFill>
                  <a:srgbClr val="1A3A6B"/>
                </a:solidFill>
                <a:latin typeface="Calibri"/>
              </a:rPr>
              <a:t>CAMPAIGN DETAILS</a:t>
            </a:r>
          </a:p>
        </p:txBody>
      </p:sp>
      <p:sp>
        <p:nvSpPr>
          <p:cNvPr id="9" name="TextBox 8"/>
          <p:cNvSpPr txBox="1"/>
          <p:nvPr/>
        </p:nvSpPr>
        <p:spPr>
          <a:xfrm>
            <a:off x="548640" y="2148840"/>
            <a:ext cx="5029200" cy="4023360"/>
          </a:xfrm>
          <a:prstGeom prst="rect">
            <a:avLst/>
          </a:prstGeom>
          <a:noFill/>
        </p:spPr>
        <p:txBody>
          <a:bodyPr wrap="square">
            <a:spAutoFit/>
          </a:bodyPr>
          <a:lstStyle/>
          <a:p>
            <a:pPr algn="l">
              <a:spcBef>
                <a:spcPts val="200"/>
              </a:spcBef>
            </a:pPr>
            <a:r>
              <a:rPr sz="1150" b="0">
                <a:solidFill>
                  <a:srgbClr val="333333"/>
                </a:solidFill>
                <a:latin typeface="Calibri"/>
              </a:rPr>
              <a:t>🎯  Target Audience: Ages 25–55, 15-mile radius of Hutto TX</a:t>
            </a:r>
          </a:p>
          <a:p>
            <a:pPr algn="l">
              <a:spcBef>
                <a:spcPts val="200"/>
              </a:spcBef>
            </a:pPr>
            <a:r>
              <a:rPr sz="1150" b="0">
                <a:solidFill>
                  <a:srgbClr val="333333"/>
                </a:solidFill>
                <a:latin typeface="Calibri"/>
              </a:rPr>
              <a:t>      Interests: Church, faith, family, Baptist, community</a:t>
            </a:r>
          </a:p>
          <a:p>
            <a:pPr algn="l">
              <a:spcBef>
                <a:spcPts val="200"/>
              </a:spcBef>
            </a:pPr>
            <a:r>
              <a:rPr sz="1150" b="0">
                <a:solidFill>
                  <a:srgbClr val="333333"/>
                </a:solidFill>
                <a:latin typeface="Calibri"/>
              </a:rPr>
              <a:t/>
            </a:r>
          </a:p>
          <a:p>
            <a:pPr algn="l">
              <a:spcBef>
                <a:spcPts val="200"/>
              </a:spcBef>
            </a:pPr>
            <a:r>
              <a:rPr sz="1150" b="0">
                <a:solidFill>
                  <a:srgbClr val="333333"/>
                </a:solidFill>
                <a:latin typeface="Calibri"/>
              </a:rPr>
              <a:t>💰  Budget: $150–$200/month ($5–7/day)</a:t>
            </a:r>
          </a:p>
          <a:p>
            <a:pPr algn="l">
              <a:spcBef>
                <a:spcPts val="200"/>
              </a:spcBef>
            </a:pPr>
            <a:r>
              <a:rPr sz="1150" b="0">
                <a:solidFill>
                  <a:srgbClr val="333333"/>
                </a:solidFill>
                <a:latin typeface="Calibri"/>
              </a:rPr>
              <a:t/>
            </a:r>
          </a:p>
          <a:p>
            <a:pPr algn="l">
              <a:spcBef>
                <a:spcPts val="200"/>
              </a:spcBef>
            </a:pPr>
            <a:r>
              <a:rPr sz="1150" b="0">
                <a:solidFill>
                  <a:srgbClr val="333333"/>
                </a:solidFill>
                <a:latin typeface="Calibri"/>
              </a:rPr>
              <a:t>📋  Ad Types: Image ads + video carousel</a:t>
            </a:r>
          </a:p>
          <a:p>
            <a:pPr algn="l">
              <a:spcBef>
                <a:spcPts val="200"/>
              </a:spcBef>
            </a:pPr>
            <a:r>
              <a:rPr sz="1150" b="0">
                <a:solidFill>
                  <a:srgbClr val="333333"/>
                </a:solidFill>
                <a:latin typeface="Calibri"/>
              </a:rPr>
              <a:t/>
            </a:r>
          </a:p>
          <a:p>
            <a:pPr algn="l">
              <a:spcBef>
                <a:spcPts val="200"/>
              </a:spcBef>
            </a:pPr>
            <a:r>
              <a:rPr sz="1150" b="0">
                <a:solidFill>
                  <a:srgbClr val="333333"/>
                </a:solidFill>
                <a:latin typeface="Calibri"/>
              </a:rPr>
              <a:t>🎯  Objective: Awareness + page follows + website visits</a:t>
            </a:r>
          </a:p>
          <a:p>
            <a:pPr algn="l">
              <a:spcBef>
                <a:spcPts val="200"/>
              </a:spcBef>
            </a:pPr>
            <a:r>
              <a:rPr sz="1150" b="0">
                <a:solidFill>
                  <a:srgbClr val="333333"/>
                </a:solidFill>
                <a:latin typeface="Calibri"/>
              </a:rPr>
              <a:t/>
            </a:r>
          </a:p>
          <a:p>
            <a:pPr algn="l">
              <a:spcBef>
                <a:spcPts val="200"/>
              </a:spcBef>
            </a:pPr>
            <a:r>
              <a:rPr sz="1150" b="0">
                <a:solidFill>
                  <a:srgbClr val="333333"/>
                </a:solidFill>
                <a:latin typeface="Calibri"/>
              </a:rPr>
              <a:t>📅  Launch: Within 48 hours of approval</a:t>
            </a:r>
          </a:p>
          <a:p>
            <a:pPr algn="l">
              <a:spcBef>
                <a:spcPts val="200"/>
              </a:spcBef>
            </a:pPr>
            <a:r>
              <a:rPr sz="1150" b="0">
                <a:solidFill>
                  <a:srgbClr val="333333"/>
                </a:solidFill>
                <a:latin typeface="Calibri"/>
              </a:rPr>
              <a:t/>
            </a:r>
          </a:p>
          <a:p>
            <a:pPr algn="l">
              <a:spcBef>
                <a:spcPts val="200"/>
              </a:spcBef>
            </a:pPr>
            <a:r>
              <a:rPr sz="1150" b="0">
                <a:solidFill>
                  <a:srgbClr val="333333"/>
                </a:solidFill>
                <a:latin typeface="Calibri"/>
              </a:rPr>
              <a:t>📈  Month 2+: Retargeting visitors with Pastor Spence welcome video</a:t>
            </a:r>
          </a:p>
        </p:txBody>
      </p:sp>
      <p:sp>
        <p:nvSpPr>
          <p:cNvPr id="10" name="Rectangle 9"/>
          <p:cNvSpPr/>
          <p:nvPr/>
        </p:nvSpPr>
        <p:spPr>
          <a:xfrm>
            <a:off x="6080760" y="1600200"/>
            <a:ext cx="5742432" cy="484632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737360"/>
            <a:ext cx="5303520" cy="365760"/>
          </a:xfrm>
          <a:prstGeom prst="rect">
            <a:avLst/>
          </a:prstGeom>
          <a:noFill/>
        </p:spPr>
        <p:txBody>
          <a:bodyPr wrap="square">
            <a:spAutoFit/>
          </a:bodyPr>
          <a:lstStyle/>
          <a:p>
            <a:pPr algn="l"/>
            <a:r>
              <a:rPr sz="1200" b="1" i="0">
                <a:solidFill>
                  <a:srgbClr val="C9A84C"/>
                </a:solidFill>
                <a:latin typeface="Calibri"/>
              </a:rPr>
              <a:t>SAMPLE AD COPY</a:t>
            </a:r>
          </a:p>
        </p:txBody>
      </p:sp>
      <p:sp>
        <p:nvSpPr>
          <p:cNvPr id="12" name="TextBox 11"/>
          <p:cNvSpPr txBox="1"/>
          <p:nvPr/>
        </p:nvSpPr>
        <p:spPr>
          <a:xfrm>
            <a:off x="6309360" y="2148840"/>
            <a:ext cx="5303520" cy="320040"/>
          </a:xfrm>
          <a:prstGeom prst="rect">
            <a:avLst/>
          </a:prstGeom>
          <a:noFill/>
        </p:spPr>
        <p:txBody>
          <a:bodyPr wrap="square">
            <a:spAutoFit/>
          </a:bodyPr>
          <a:lstStyle/>
          <a:p>
            <a:pPr algn="l"/>
            <a:r>
              <a:rPr sz="1100" b="1" i="0">
                <a:solidFill>
                  <a:srgbClr val="C9A84C"/>
                </a:solidFill>
                <a:latin typeface="Calibri"/>
              </a:rPr>
              <a:t>Version A — Awareness</a:t>
            </a:r>
          </a:p>
        </p:txBody>
      </p:sp>
      <p:sp>
        <p:nvSpPr>
          <p:cNvPr id="13" name="TextBox 12"/>
          <p:cNvSpPr txBox="1"/>
          <p:nvPr/>
        </p:nvSpPr>
        <p:spPr>
          <a:xfrm>
            <a:off x="6309360" y="2487168"/>
            <a:ext cx="5303520" cy="1828800"/>
          </a:xfrm>
          <a:prstGeom prst="rect">
            <a:avLst/>
          </a:prstGeom>
          <a:noFill/>
        </p:spPr>
        <p:txBody>
          <a:bodyPr wrap="square">
            <a:spAutoFit/>
          </a:bodyPr>
          <a:lstStyle/>
          <a:p>
            <a:pPr algn="l"/>
            <a:r>
              <a:rPr sz="1100" b="0" i="1">
                <a:solidFill>
                  <a:srgbClr val="FFFFFF"/>
                </a:solidFill>
                <a:latin typeface="Calibri"/>
              </a:rPr>
              <a:t>"119 years of faith. One community.
All are welcome.
Little Ebenezer Baptist Church has been
serving Hutto since 1901.
Join us this Sunday at 11AM
215 S. Brushy St, Hutto TX
🙏 Little church. Big heart."</a:t>
            </a:r>
          </a:p>
        </p:txBody>
      </p:sp>
      <p:sp>
        <p:nvSpPr>
          <p:cNvPr id="14" name="Rectangle 13"/>
          <p:cNvSpPr/>
          <p:nvPr/>
        </p:nvSpPr>
        <p:spPr>
          <a:xfrm>
            <a:off x="6309360" y="4343400"/>
            <a:ext cx="5029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4434840"/>
            <a:ext cx="5303520" cy="320040"/>
          </a:xfrm>
          <a:prstGeom prst="rect">
            <a:avLst/>
          </a:prstGeom>
          <a:noFill/>
        </p:spPr>
        <p:txBody>
          <a:bodyPr wrap="square">
            <a:spAutoFit/>
          </a:bodyPr>
          <a:lstStyle/>
          <a:p>
            <a:pPr algn="l"/>
            <a:r>
              <a:rPr sz="1100" b="1" i="0">
                <a:solidFill>
                  <a:srgbClr val="C9A84C"/>
                </a:solidFill>
                <a:latin typeface="Calibri"/>
              </a:rPr>
              <a:t>Version B — Visitor Invite</a:t>
            </a:r>
          </a:p>
        </p:txBody>
      </p:sp>
      <p:sp>
        <p:nvSpPr>
          <p:cNvPr id="16" name="TextBox 15"/>
          <p:cNvSpPr txBox="1"/>
          <p:nvPr/>
        </p:nvSpPr>
        <p:spPr>
          <a:xfrm>
            <a:off x="6309360" y="4773168"/>
            <a:ext cx="5303520" cy="1371600"/>
          </a:xfrm>
          <a:prstGeom prst="rect">
            <a:avLst/>
          </a:prstGeom>
          <a:noFill/>
        </p:spPr>
        <p:txBody>
          <a:bodyPr wrap="square">
            <a:spAutoFit/>
          </a:bodyPr>
          <a:lstStyle/>
          <a:p>
            <a:pPr algn="l"/>
            <a:r>
              <a:rPr sz="1100" b="0" i="1">
                <a:solidFill>
                  <a:srgbClr val="FFFFFF"/>
                </a:solidFill>
                <a:latin typeface="Calibri"/>
              </a:rPr>
              <a:t>"Looking for a church home in Hutto?
Come experience real worship, community,
and fellowship at Little Ebenezer.
Sunday Service | 11:00 AM
We'd love to meet you.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1430000" cy="594360"/>
          </a:xfrm>
          <a:prstGeom prst="rect">
            <a:avLst/>
          </a:prstGeom>
          <a:noFill/>
        </p:spPr>
        <p:txBody>
          <a:bodyPr wrap="square">
            <a:spAutoFit/>
          </a:bodyPr>
          <a:lstStyle/>
          <a:p>
            <a:pPr algn="l"/>
            <a:r>
              <a:rPr sz="2200" b="1" i="0">
                <a:solidFill>
                  <a:srgbClr val="FFFFFF"/>
                </a:solidFill>
                <a:latin typeface="Calibri"/>
              </a:rPr>
              <a:t>🎙️  THE WORD FROM LITTLE EBENEZER — SERMON PODCAST</a:t>
            </a:r>
          </a:p>
        </p:txBody>
      </p:sp>
      <p:sp>
        <p:nvSpPr>
          <p:cNvPr id="5" name="Rectangle 4"/>
          <p:cNvSpPr/>
          <p:nvPr/>
        </p:nvSpPr>
        <p:spPr>
          <a:xfrm>
            <a:off x="365760" y="804672"/>
            <a:ext cx="36576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97280"/>
            <a:ext cx="11521440" cy="5943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170432"/>
            <a:ext cx="11155680" cy="457200"/>
          </a:xfrm>
          <a:prstGeom prst="rect">
            <a:avLst/>
          </a:prstGeom>
          <a:noFill/>
        </p:spPr>
        <p:txBody>
          <a:bodyPr wrap="square">
            <a:spAutoFit/>
          </a:bodyPr>
          <a:lstStyle/>
          <a:p>
            <a:pPr algn="l"/>
            <a:r>
              <a:rPr sz="1300" b="1" i="0">
                <a:solidFill>
                  <a:srgbClr val="1A3A6B"/>
                </a:solidFill>
                <a:latin typeface="Calibri"/>
              </a:rPr>
              <a:t>⚡  ZERO extra work for the church — LEBC already records everything. We just publish it everywhere.</a:t>
            </a:r>
          </a:p>
        </p:txBody>
      </p:sp>
      <p:sp>
        <p:nvSpPr>
          <p:cNvPr id="8" name="Rectangle 7"/>
          <p:cNvSpPr/>
          <p:nvPr/>
        </p:nvSpPr>
        <p:spPr>
          <a:xfrm>
            <a:off x="320040" y="1828800"/>
            <a:ext cx="5486400" cy="4572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965960"/>
            <a:ext cx="5029200" cy="365760"/>
          </a:xfrm>
          <a:prstGeom prst="rect">
            <a:avLst/>
          </a:prstGeom>
          <a:noFill/>
        </p:spPr>
        <p:txBody>
          <a:bodyPr wrap="square">
            <a:spAutoFit/>
          </a:bodyPr>
          <a:lstStyle/>
          <a:p>
            <a:pPr algn="l"/>
            <a:r>
              <a:rPr sz="1200" b="1" i="0">
                <a:solidFill>
                  <a:srgbClr val="1A3A6B"/>
                </a:solidFill>
                <a:latin typeface="Calibri"/>
              </a:rPr>
              <a:t>HOW IT WORKS</a:t>
            </a:r>
          </a:p>
        </p:txBody>
      </p:sp>
      <p:sp>
        <p:nvSpPr>
          <p:cNvPr id="10" name="TextBox 9"/>
          <p:cNvSpPr txBox="1"/>
          <p:nvPr/>
        </p:nvSpPr>
        <p:spPr>
          <a:xfrm>
            <a:off x="548640" y="2377440"/>
            <a:ext cx="5029200" cy="3749039"/>
          </a:xfrm>
          <a:prstGeom prst="rect">
            <a:avLst/>
          </a:prstGeom>
          <a:noFill/>
        </p:spPr>
        <p:txBody>
          <a:bodyPr wrap="square">
            <a:spAutoFit/>
          </a:bodyPr>
          <a:lstStyle/>
          <a:p>
            <a:pPr algn="l">
              <a:spcBef>
                <a:spcPts val="300"/>
              </a:spcBef>
            </a:pPr>
            <a:r>
              <a:rPr sz="1150" b="0">
                <a:solidFill>
                  <a:srgbClr val="333333"/>
                </a:solidFill>
                <a:latin typeface="Calibri"/>
              </a:rPr>
              <a:t>1️⃣   LEBC uploads Sunday service to YouTube</a:t>
            </a:r>
          </a:p>
          <a:p>
            <a:pPr algn="l">
              <a:spcBef>
                <a:spcPts val="300"/>
              </a:spcBef>
            </a:pPr>
            <a:r>
              <a:rPr sz="1150" b="0">
                <a:solidFill>
                  <a:srgbClr val="333333"/>
                </a:solidFill>
                <a:latin typeface="Calibri"/>
              </a:rPr>
              <a:t>       (You already do this every week)</a:t>
            </a:r>
          </a:p>
          <a:p>
            <a:pPr algn="l">
              <a:spcBef>
                <a:spcPts val="300"/>
              </a:spcBef>
            </a:pPr>
            <a:r>
              <a:rPr sz="1150" b="0">
                <a:solidFill>
                  <a:srgbClr val="333333"/>
                </a:solidFill>
                <a:latin typeface="Calibri"/>
              </a:rPr>
              <a:t/>
            </a:r>
          </a:p>
          <a:p>
            <a:pPr algn="l">
              <a:spcBef>
                <a:spcPts val="300"/>
              </a:spcBef>
            </a:pPr>
            <a:r>
              <a:rPr sz="1150" b="0">
                <a:solidFill>
                  <a:srgbClr val="333333"/>
                </a:solidFill>
                <a:latin typeface="Calibri"/>
              </a:rPr>
              <a:t>2️⃣   S2T downloads audio, cleans it up,</a:t>
            </a:r>
          </a:p>
          <a:p>
            <a:pPr algn="l">
              <a:spcBef>
                <a:spcPts val="300"/>
              </a:spcBef>
            </a:pPr>
            <a:r>
              <a:rPr sz="1150" b="0">
                <a:solidFill>
                  <a:srgbClr val="333333"/>
                </a:solidFill>
                <a:latin typeface="Calibri"/>
              </a:rPr>
              <a:t>       adds branded intro + outro (30 sec each)</a:t>
            </a:r>
          </a:p>
          <a:p>
            <a:pPr algn="l">
              <a:spcBef>
                <a:spcPts val="300"/>
              </a:spcBef>
            </a:pPr>
            <a:r>
              <a:rPr sz="1150" b="0">
                <a:solidFill>
                  <a:srgbClr val="333333"/>
                </a:solidFill>
                <a:latin typeface="Calibri"/>
              </a:rPr>
              <a:t/>
            </a:r>
          </a:p>
          <a:p>
            <a:pPr algn="l">
              <a:spcBef>
                <a:spcPts val="300"/>
              </a:spcBef>
            </a:pPr>
            <a:r>
              <a:rPr sz="1150" b="0">
                <a:solidFill>
                  <a:srgbClr val="333333"/>
                </a:solidFill>
                <a:latin typeface="Calibri"/>
              </a:rPr>
              <a:t>3️⃣   Episode published to ALL platforms by 3PM Sunday</a:t>
            </a:r>
          </a:p>
          <a:p>
            <a:pPr algn="l">
              <a:spcBef>
                <a:spcPts val="300"/>
              </a:spcBef>
            </a:pPr>
            <a:r>
              <a:rPr sz="1150" b="0">
                <a:solidFill>
                  <a:srgbClr val="333333"/>
                </a:solidFill>
                <a:latin typeface="Calibri"/>
              </a:rPr>
              <a:t/>
            </a:r>
          </a:p>
          <a:p>
            <a:pPr algn="l">
              <a:spcBef>
                <a:spcPts val="300"/>
              </a:spcBef>
            </a:pPr>
            <a:r>
              <a:rPr sz="1150" b="0">
                <a:solidFill>
                  <a:srgbClr val="333333"/>
                </a:solidFill>
                <a:latin typeface="Calibri"/>
              </a:rPr>
              <a:t>4️⃣   60-second sermon clip cut for Instagram Reels</a:t>
            </a:r>
          </a:p>
          <a:p>
            <a:pPr algn="l">
              <a:spcBef>
                <a:spcPts val="300"/>
              </a:spcBef>
            </a:pPr>
            <a:r>
              <a:rPr sz="1150" b="0">
                <a:solidFill>
                  <a:srgbClr val="333333"/>
                </a:solidFill>
                <a:latin typeface="Calibri"/>
              </a:rPr>
              <a:t>       + Facebook post — drives traffic back to full episode</a:t>
            </a:r>
          </a:p>
          <a:p>
            <a:pPr algn="l">
              <a:spcBef>
                <a:spcPts val="300"/>
              </a:spcBef>
            </a:pPr>
            <a:r>
              <a:rPr sz="1150" b="0">
                <a:solidFill>
                  <a:srgbClr val="333333"/>
                </a:solidFill>
                <a:latin typeface="Calibri"/>
              </a:rPr>
              <a:t/>
            </a:r>
          </a:p>
          <a:p>
            <a:pPr algn="l">
              <a:spcBef>
                <a:spcPts val="300"/>
              </a:spcBef>
            </a:pPr>
            <a:r>
              <a:rPr sz="1150" b="0">
                <a:solidFill>
                  <a:srgbClr val="333333"/>
                </a:solidFill>
                <a:latin typeface="Calibri"/>
              </a:rPr>
              <a:t>5️⃣   Episode is evergreen — searchable forever</a:t>
            </a:r>
          </a:p>
          <a:p>
            <a:pPr algn="l">
              <a:spcBef>
                <a:spcPts val="300"/>
              </a:spcBef>
            </a:pPr>
            <a:r>
              <a:rPr sz="1150" b="0">
                <a:solidFill>
                  <a:srgbClr val="333333"/>
                </a:solidFill>
                <a:latin typeface="Calibri"/>
              </a:rPr>
              <a:t>       on Spotify and Apple Podcasts</a:t>
            </a:r>
          </a:p>
        </p:txBody>
      </p:sp>
      <p:sp>
        <p:nvSpPr>
          <p:cNvPr id="11" name="Rectangle 10"/>
          <p:cNvSpPr/>
          <p:nvPr/>
        </p:nvSpPr>
        <p:spPr>
          <a:xfrm>
            <a:off x="6080760" y="1828800"/>
            <a:ext cx="5742432" cy="219456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965960"/>
            <a:ext cx="5303520" cy="365760"/>
          </a:xfrm>
          <a:prstGeom prst="rect">
            <a:avLst/>
          </a:prstGeom>
          <a:noFill/>
        </p:spPr>
        <p:txBody>
          <a:bodyPr wrap="square">
            <a:spAutoFit/>
          </a:bodyPr>
          <a:lstStyle/>
          <a:p>
            <a:pPr algn="l"/>
            <a:r>
              <a:rPr sz="1200" b="1" i="0">
                <a:solidFill>
                  <a:srgbClr val="C9A84C"/>
                </a:solidFill>
                <a:latin typeface="Calibri"/>
              </a:rPr>
              <a:t>DISTRIBUTED TO</a:t>
            </a:r>
          </a:p>
        </p:txBody>
      </p:sp>
      <p:sp>
        <p:nvSpPr>
          <p:cNvPr id="13" name="TextBox 12"/>
          <p:cNvSpPr txBox="1"/>
          <p:nvPr/>
        </p:nvSpPr>
        <p:spPr>
          <a:xfrm>
            <a:off x="6309360" y="2359152"/>
            <a:ext cx="5303520" cy="1554480"/>
          </a:xfrm>
          <a:prstGeom prst="rect">
            <a:avLst/>
          </a:prstGeom>
          <a:noFill/>
        </p:spPr>
        <p:txBody>
          <a:bodyPr wrap="square">
            <a:spAutoFit/>
          </a:bodyPr>
          <a:lstStyle/>
          <a:p>
            <a:pPr algn="l">
              <a:spcBef>
                <a:spcPts val="300"/>
              </a:spcBef>
            </a:pPr>
            <a:r>
              <a:rPr sz="1200" b="0">
                <a:solidFill>
                  <a:srgbClr val="FFFFFF"/>
                </a:solidFill>
                <a:latin typeface="Calibri"/>
              </a:rPr>
              <a:t>🎵  Spotify</a:t>
            </a:r>
          </a:p>
          <a:p>
            <a:pPr algn="l">
              <a:spcBef>
                <a:spcPts val="300"/>
              </a:spcBef>
            </a:pPr>
            <a:r>
              <a:rPr sz="1200" b="0">
                <a:solidFill>
                  <a:srgbClr val="FFFFFF"/>
                </a:solidFill>
                <a:latin typeface="Calibri"/>
              </a:rPr>
              <a:t>🍎  Apple Podcasts</a:t>
            </a:r>
          </a:p>
          <a:p>
            <a:pPr algn="l">
              <a:spcBef>
                <a:spcPts val="300"/>
              </a:spcBef>
            </a:pPr>
            <a:r>
              <a:rPr sz="1200" b="0">
                <a:solidFill>
                  <a:srgbClr val="FFFFFF"/>
                </a:solidFill>
                <a:latin typeface="Calibri"/>
              </a:rPr>
              <a:t>📺  YouTube Music</a:t>
            </a:r>
          </a:p>
          <a:p>
            <a:pPr algn="l">
              <a:spcBef>
                <a:spcPts val="300"/>
              </a:spcBef>
            </a:pPr>
            <a:r>
              <a:rPr sz="1200" b="0">
                <a:solidFill>
                  <a:srgbClr val="FFFFFF"/>
                </a:solidFill>
                <a:latin typeface="Calibri"/>
              </a:rPr>
              <a:t>🔊  Amazon Music / Alexa</a:t>
            </a:r>
          </a:p>
          <a:p>
            <a:pPr algn="l">
              <a:spcBef>
                <a:spcPts val="300"/>
              </a:spcBef>
            </a:pPr>
            <a:r>
              <a:rPr sz="1200" b="0">
                <a:solidFill>
                  <a:srgbClr val="FFFFFF"/>
                </a:solidFill>
                <a:latin typeface="Calibri"/>
              </a:rPr>
              <a:t>🎙️  Pocket Casts + iHeart</a:t>
            </a:r>
          </a:p>
        </p:txBody>
      </p:sp>
      <p:sp>
        <p:nvSpPr>
          <p:cNvPr id="14" name="Rectangle 13"/>
          <p:cNvSpPr/>
          <p:nvPr/>
        </p:nvSpPr>
        <p:spPr>
          <a:xfrm>
            <a:off x="6080760" y="4160520"/>
            <a:ext cx="5742432" cy="2240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4297680"/>
            <a:ext cx="5303520" cy="365760"/>
          </a:xfrm>
          <a:prstGeom prst="rect">
            <a:avLst/>
          </a:prstGeom>
          <a:noFill/>
        </p:spPr>
        <p:txBody>
          <a:bodyPr wrap="square">
            <a:spAutoFit/>
          </a:bodyPr>
          <a:lstStyle/>
          <a:p>
            <a:pPr algn="l"/>
            <a:r>
              <a:rPr sz="1200" b="1" i="0">
                <a:solidFill>
                  <a:srgbClr val="1A3A6B"/>
                </a:solidFill>
                <a:latin typeface="Calibri"/>
              </a:rPr>
              <a:t>FORMAT</a:t>
            </a:r>
          </a:p>
        </p:txBody>
      </p:sp>
      <p:sp>
        <p:nvSpPr>
          <p:cNvPr id="16" name="TextBox 15"/>
          <p:cNvSpPr txBox="1"/>
          <p:nvPr/>
        </p:nvSpPr>
        <p:spPr>
          <a:xfrm>
            <a:off x="6309360" y="4681728"/>
            <a:ext cx="5303520" cy="1554480"/>
          </a:xfrm>
          <a:prstGeom prst="rect">
            <a:avLst/>
          </a:prstGeom>
          <a:noFill/>
        </p:spPr>
        <p:txBody>
          <a:bodyPr wrap="square">
            <a:spAutoFit/>
          </a:bodyPr>
          <a:lstStyle/>
          <a:p>
            <a:pPr algn="l">
              <a:spcBef>
                <a:spcPts val="300"/>
              </a:spcBef>
            </a:pPr>
            <a:r>
              <a:rPr sz="1150" b="0">
                <a:solidFill>
                  <a:srgbClr val="333333"/>
                </a:solidFill>
                <a:latin typeface="Calibri"/>
              </a:rPr>
              <a:t>📌  Host: Pastor Arthur L. Spence</a:t>
            </a:r>
          </a:p>
          <a:p>
            <a:pPr algn="l">
              <a:spcBef>
                <a:spcPts val="300"/>
              </a:spcBef>
            </a:pPr>
            <a:r>
              <a:rPr sz="1150" b="0">
                <a:solidFill>
                  <a:srgbClr val="333333"/>
                </a:solidFill>
                <a:latin typeface="Calibri"/>
              </a:rPr>
              <a:t>⏱️   Length: 30–50 min (full sermon)</a:t>
            </a:r>
          </a:p>
          <a:p>
            <a:pPr algn="l">
              <a:spcBef>
                <a:spcPts val="300"/>
              </a:spcBef>
            </a:pPr>
            <a:r>
              <a:rPr sz="1150" b="0">
                <a:solidFill>
                  <a:srgbClr val="333333"/>
                </a:solidFill>
                <a:latin typeface="Calibri"/>
              </a:rPr>
              <a:t>📅  Drops: Every Sunday by 3PM</a:t>
            </a:r>
          </a:p>
          <a:p>
            <a:pPr algn="l">
              <a:spcBef>
                <a:spcPts val="300"/>
              </a:spcBef>
            </a:pPr>
            <a:r>
              <a:rPr sz="1150" b="0">
                <a:solidFill>
                  <a:srgbClr val="333333"/>
                </a:solidFill>
                <a:latin typeface="Calibri"/>
              </a:rPr>
              <a:t>🎵  Branded intro + outro audio</a:t>
            </a:r>
          </a:p>
          <a:p>
            <a:pPr algn="l">
              <a:spcBef>
                <a:spcPts val="300"/>
              </a:spcBef>
            </a:pPr>
            <a:r>
              <a:rPr sz="1150" b="0">
                <a:solidFill>
                  <a:srgbClr val="333333"/>
                </a:solidFill>
                <a:latin typeface="Calibri"/>
              </a:rPr>
              <a:t>🔗  Episode notes with scripture references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28600"/>
            <a:ext cx="10972800" cy="594360"/>
          </a:xfrm>
          <a:prstGeom prst="rect">
            <a:avLst/>
          </a:prstGeom>
          <a:noFill/>
        </p:spPr>
        <p:txBody>
          <a:bodyPr wrap="square">
            <a:spAutoFit/>
          </a:bodyPr>
          <a:lstStyle/>
          <a:p>
            <a:pPr algn="l"/>
            <a:r>
              <a:rPr sz="2800" b="1" i="0">
                <a:solidFill>
                  <a:srgbClr val="FFFFFF"/>
                </a:solidFill>
                <a:latin typeface="Calibri"/>
              </a:rPr>
              <a:t>🎙️  LEBC YOUTH MEDIA NETWORK</a:t>
            </a:r>
          </a:p>
        </p:txBody>
      </p:sp>
      <p:sp>
        <p:nvSpPr>
          <p:cNvPr id="5" name="TextBox 4"/>
          <p:cNvSpPr txBox="1"/>
          <p:nvPr/>
        </p:nvSpPr>
        <p:spPr>
          <a:xfrm>
            <a:off x="502920" y="804672"/>
            <a:ext cx="10972800" cy="411480"/>
          </a:xfrm>
          <a:prstGeom prst="rect">
            <a:avLst/>
          </a:prstGeom>
          <a:noFill/>
        </p:spPr>
        <p:txBody>
          <a:bodyPr wrap="square">
            <a:spAutoFit/>
          </a:bodyPr>
          <a:lstStyle/>
          <a:p>
            <a:pPr algn="l"/>
            <a:r>
              <a:rPr sz="1500" b="1" i="0">
                <a:solidFill>
                  <a:srgbClr val="C9A84C"/>
                </a:solidFill>
                <a:latin typeface="Calibri"/>
              </a:rPr>
              <a:t>Three age-specific shows. One powerful brand.</a:t>
            </a:r>
          </a:p>
        </p:txBody>
      </p:sp>
      <p:sp>
        <p:nvSpPr>
          <p:cNvPr id="6" name="Rectangle 5"/>
          <p:cNvSpPr/>
          <p:nvPr/>
        </p:nvSpPr>
        <p:spPr>
          <a:xfrm>
            <a:off x="502920" y="1188720"/>
            <a:ext cx="1115568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371600"/>
            <a:ext cx="3749039" cy="5120640"/>
          </a:xfrm>
          <a:prstGeom prst="rect">
            <a:avLst/>
          </a:prstGeom>
          <a:solidFill>
            <a:srgbClr val="1A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463040"/>
            <a:ext cx="3749039" cy="548640"/>
          </a:xfrm>
          <a:prstGeom prst="rect">
            <a:avLst/>
          </a:prstGeom>
          <a:noFill/>
        </p:spPr>
        <p:txBody>
          <a:bodyPr wrap="square">
            <a:spAutoFit/>
          </a:bodyPr>
          <a:lstStyle/>
          <a:p>
            <a:pPr algn="ctr"/>
            <a:r>
              <a:rPr sz="2400" b="0" i="0">
                <a:solidFill>
                  <a:srgbClr val="FFFFFF"/>
                </a:solidFill>
                <a:latin typeface="Calibri"/>
              </a:rPr>
              <a:t>🧒</a:t>
            </a:r>
          </a:p>
        </p:txBody>
      </p:sp>
      <p:sp>
        <p:nvSpPr>
          <p:cNvPr id="9" name="TextBox 8"/>
          <p:cNvSpPr txBox="1"/>
          <p:nvPr/>
        </p:nvSpPr>
        <p:spPr>
          <a:xfrm>
            <a:off x="320040" y="1965960"/>
            <a:ext cx="3749039" cy="411480"/>
          </a:xfrm>
          <a:prstGeom prst="rect">
            <a:avLst/>
          </a:prstGeom>
          <a:noFill/>
        </p:spPr>
        <p:txBody>
          <a:bodyPr wrap="square">
            <a:spAutoFit/>
          </a:bodyPr>
          <a:lstStyle/>
          <a:p>
            <a:pPr algn="ctr"/>
            <a:r>
              <a:rPr sz="1400" b="1" i="0">
                <a:solidFill>
                  <a:srgbClr val="FFFFFF"/>
                </a:solidFill>
                <a:latin typeface="Calibri"/>
              </a:rPr>
              <a:t>"Little Lights"</a:t>
            </a:r>
          </a:p>
        </p:txBody>
      </p:sp>
      <p:sp>
        <p:nvSpPr>
          <p:cNvPr id="10" name="TextBox 9"/>
          <p:cNvSpPr txBox="1"/>
          <p:nvPr/>
        </p:nvSpPr>
        <p:spPr>
          <a:xfrm>
            <a:off x="320040" y="2350008"/>
            <a:ext cx="3749039" cy="320040"/>
          </a:xfrm>
          <a:prstGeom prst="rect">
            <a:avLst/>
          </a:prstGeom>
          <a:noFill/>
        </p:spPr>
        <p:txBody>
          <a:bodyPr wrap="square">
            <a:spAutoFit/>
          </a:bodyPr>
          <a:lstStyle/>
          <a:p>
            <a:pPr algn="ctr"/>
            <a:r>
              <a:rPr sz="1100" b="1" i="0">
                <a:solidFill>
                  <a:srgbClr val="C9A84C"/>
                </a:solidFill>
                <a:latin typeface="Calibri"/>
              </a:rPr>
              <a:t>Ages 4–12  |  Fridays</a:t>
            </a:r>
          </a:p>
        </p:txBody>
      </p:sp>
      <p:sp>
        <p:nvSpPr>
          <p:cNvPr id="11" name="Rectangle 10"/>
          <p:cNvSpPr/>
          <p:nvPr/>
        </p:nvSpPr>
        <p:spPr>
          <a:xfrm>
            <a:off x="502920" y="2697480"/>
            <a:ext cx="338328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788920"/>
            <a:ext cx="3474720" cy="320040"/>
          </a:xfrm>
          <a:prstGeom prst="rect">
            <a:avLst/>
          </a:prstGeom>
          <a:noFill/>
        </p:spPr>
        <p:txBody>
          <a:bodyPr wrap="square">
            <a:spAutoFit/>
          </a:bodyPr>
          <a:lstStyle/>
          <a:p>
            <a:pPr algn="l"/>
            <a:r>
              <a:rPr sz="1050" b="0" i="0">
                <a:solidFill>
                  <a:srgbClr val="FFFFFF"/>
                </a:solidFill>
                <a:latin typeface="Calibri"/>
              </a:rPr>
              <a:t>Host: Youth leader + kid co-hosts</a:t>
            </a:r>
          </a:p>
        </p:txBody>
      </p:sp>
      <p:sp>
        <p:nvSpPr>
          <p:cNvPr id="13" name="TextBox 12"/>
          <p:cNvSpPr txBox="1"/>
          <p:nvPr/>
        </p:nvSpPr>
        <p:spPr>
          <a:xfrm>
            <a:off x="457200" y="3090672"/>
            <a:ext cx="3474720" cy="320040"/>
          </a:xfrm>
          <a:prstGeom prst="rect">
            <a:avLst/>
          </a:prstGeom>
          <a:noFill/>
        </p:spPr>
        <p:txBody>
          <a:bodyPr wrap="square">
            <a:spAutoFit/>
          </a:bodyPr>
          <a:lstStyle/>
          <a:p>
            <a:pPr algn="l"/>
            <a:r>
              <a:rPr sz="1050" b="0" i="0">
                <a:solidFill>
                  <a:srgbClr val="FFFFFF"/>
                </a:solidFill>
                <a:latin typeface="Calibri"/>
              </a:rPr>
              <a:t>Tone: Playful, storytelling-driven</a:t>
            </a:r>
          </a:p>
        </p:txBody>
      </p:sp>
      <p:sp>
        <p:nvSpPr>
          <p:cNvPr id="14" name="TextBox 13"/>
          <p:cNvSpPr txBox="1"/>
          <p:nvPr/>
        </p:nvSpPr>
        <p:spPr>
          <a:xfrm>
            <a:off x="457200" y="3429000"/>
            <a:ext cx="3474720" cy="1280160"/>
          </a:xfrm>
          <a:prstGeom prst="rect">
            <a:avLst/>
          </a:prstGeom>
          <a:noFill/>
        </p:spPr>
        <p:txBody>
          <a:bodyPr wrap="square">
            <a:spAutoFit/>
          </a:bodyPr>
          <a:lstStyle/>
          <a:p>
            <a:pPr algn="l"/>
            <a:r>
              <a:rPr sz="1000" b="0" i="0">
                <a:solidFill>
                  <a:srgbClr val="CCDDFF"/>
                </a:solidFill>
                <a:latin typeface="Calibri"/>
              </a:rPr>
              <a:t>• Bible stories retold for kids
• Faith questions answered by kids
• Family devotional content
• Car-ride friendly (8–12 min)</a:t>
            </a:r>
          </a:p>
        </p:txBody>
      </p:sp>
      <p:sp>
        <p:nvSpPr>
          <p:cNvPr id="15" name="Rectangle 14"/>
          <p:cNvSpPr/>
          <p:nvPr/>
        </p:nvSpPr>
        <p:spPr>
          <a:xfrm>
            <a:off x="457200" y="4754880"/>
            <a:ext cx="34747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828032"/>
            <a:ext cx="3474720" cy="777240"/>
          </a:xfrm>
          <a:prstGeom prst="rect">
            <a:avLst/>
          </a:prstGeom>
          <a:noFill/>
        </p:spPr>
        <p:txBody>
          <a:bodyPr wrap="square">
            <a:spAutoFit/>
          </a:bodyPr>
          <a:lstStyle/>
          <a:p>
            <a:pPr algn="l"/>
            <a:r>
              <a:rPr sz="950" b="0" i="1">
                <a:solidFill>
                  <a:srgbClr val="C9A84C"/>
                </a:solidFill>
                <a:latin typeface="Calibri"/>
              </a:rPr>
              <a:t>💡 Parents actively search for faith-based kids content — massive underserved niche on Spotify Kids</a:t>
            </a:r>
          </a:p>
        </p:txBody>
      </p:sp>
      <p:sp>
        <p:nvSpPr>
          <p:cNvPr id="17" name="Rectangle 16"/>
          <p:cNvSpPr/>
          <p:nvPr/>
        </p:nvSpPr>
        <p:spPr>
          <a:xfrm>
            <a:off x="4270248" y="1371600"/>
            <a:ext cx="3749039" cy="512064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70248" y="1463040"/>
            <a:ext cx="3749039" cy="548640"/>
          </a:xfrm>
          <a:prstGeom prst="rect">
            <a:avLst/>
          </a:prstGeom>
          <a:noFill/>
        </p:spPr>
        <p:txBody>
          <a:bodyPr wrap="square">
            <a:spAutoFit/>
          </a:bodyPr>
          <a:lstStyle/>
          <a:p>
            <a:pPr algn="ctr"/>
            <a:r>
              <a:rPr sz="2400" b="0" i="0">
                <a:solidFill>
                  <a:srgbClr val="FFFFFF"/>
                </a:solidFill>
                <a:latin typeface="Calibri"/>
              </a:rPr>
              <a:t>🎓</a:t>
            </a:r>
          </a:p>
        </p:txBody>
      </p:sp>
      <p:sp>
        <p:nvSpPr>
          <p:cNvPr id="19" name="TextBox 18"/>
          <p:cNvSpPr txBox="1"/>
          <p:nvPr/>
        </p:nvSpPr>
        <p:spPr>
          <a:xfrm>
            <a:off x="4270248" y="1965960"/>
            <a:ext cx="3749039" cy="411480"/>
          </a:xfrm>
          <a:prstGeom prst="rect">
            <a:avLst/>
          </a:prstGeom>
          <a:noFill/>
        </p:spPr>
        <p:txBody>
          <a:bodyPr wrap="square">
            <a:spAutoFit/>
          </a:bodyPr>
          <a:lstStyle/>
          <a:p>
            <a:pPr algn="ctr"/>
            <a:r>
              <a:rPr sz="1400" b="1" i="0">
                <a:solidFill>
                  <a:srgbClr val="FFFFFF"/>
                </a:solidFill>
                <a:latin typeface="Calibri"/>
              </a:rPr>
              <a:t>"The Upper Room"</a:t>
            </a:r>
          </a:p>
        </p:txBody>
      </p:sp>
      <p:sp>
        <p:nvSpPr>
          <p:cNvPr id="20" name="TextBox 19"/>
          <p:cNvSpPr txBox="1"/>
          <p:nvPr/>
        </p:nvSpPr>
        <p:spPr>
          <a:xfrm>
            <a:off x="4270248" y="2350008"/>
            <a:ext cx="3749039" cy="320040"/>
          </a:xfrm>
          <a:prstGeom prst="rect">
            <a:avLst/>
          </a:prstGeom>
          <a:noFill/>
        </p:spPr>
        <p:txBody>
          <a:bodyPr wrap="square">
            <a:spAutoFit/>
          </a:bodyPr>
          <a:lstStyle/>
          <a:p>
            <a:pPr algn="ctr"/>
            <a:r>
              <a:rPr sz="1100" b="1" i="0">
                <a:solidFill>
                  <a:srgbClr val="C9A84C"/>
                </a:solidFill>
                <a:latin typeface="Calibri"/>
              </a:rPr>
              <a:t>Ages 13–18  |  Wednesdays</a:t>
            </a:r>
          </a:p>
        </p:txBody>
      </p:sp>
      <p:sp>
        <p:nvSpPr>
          <p:cNvPr id="21" name="Rectangle 20"/>
          <p:cNvSpPr/>
          <p:nvPr/>
        </p:nvSpPr>
        <p:spPr>
          <a:xfrm>
            <a:off x="4453128" y="2697480"/>
            <a:ext cx="338328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07408" y="2788920"/>
            <a:ext cx="3474720" cy="320040"/>
          </a:xfrm>
          <a:prstGeom prst="rect">
            <a:avLst/>
          </a:prstGeom>
          <a:noFill/>
        </p:spPr>
        <p:txBody>
          <a:bodyPr wrap="square">
            <a:spAutoFit/>
          </a:bodyPr>
          <a:lstStyle/>
          <a:p>
            <a:pPr algn="l"/>
            <a:r>
              <a:rPr sz="1050" b="0" i="0">
                <a:solidFill>
                  <a:srgbClr val="FFFFFF"/>
                </a:solidFill>
                <a:latin typeface="Calibri"/>
              </a:rPr>
              <a:t>Host: 2–3 LEBC teens (rotating)</a:t>
            </a:r>
          </a:p>
        </p:txBody>
      </p:sp>
      <p:sp>
        <p:nvSpPr>
          <p:cNvPr id="23" name="TextBox 22"/>
          <p:cNvSpPr txBox="1"/>
          <p:nvPr/>
        </p:nvSpPr>
        <p:spPr>
          <a:xfrm>
            <a:off x="4407408" y="3090672"/>
            <a:ext cx="3474720" cy="320040"/>
          </a:xfrm>
          <a:prstGeom prst="rect">
            <a:avLst/>
          </a:prstGeom>
          <a:noFill/>
        </p:spPr>
        <p:txBody>
          <a:bodyPr wrap="square">
            <a:spAutoFit/>
          </a:bodyPr>
          <a:lstStyle/>
          <a:p>
            <a:pPr algn="l"/>
            <a:r>
              <a:rPr sz="1050" b="0" i="0">
                <a:solidFill>
                  <a:srgbClr val="FFFFFF"/>
                </a:solidFill>
                <a:latin typeface="Calibri"/>
              </a:rPr>
              <a:t>Tone: Real, honest, peer-to-peer</a:t>
            </a:r>
          </a:p>
        </p:txBody>
      </p:sp>
      <p:sp>
        <p:nvSpPr>
          <p:cNvPr id="24" name="TextBox 23"/>
          <p:cNvSpPr txBox="1"/>
          <p:nvPr/>
        </p:nvSpPr>
        <p:spPr>
          <a:xfrm>
            <a:off x="4407408" y="3429000"/>
            <a:ext cx="3474720" cy="1280160"/>
          </a:xfrm>
          <a:prstGeom prst="rect">
            <a:avLst/>
          </a:prstGeom>
          <a:noFill/>
        </p:spPr>
        <p:txBody>
          <a:bodyPr wrap="square">
            <a:spAutoFit/>
          </a:bodyPr>
          <a:lstStyle/>
          <a:p>
            <a:pPr algn="l"/>
            <a:r>
              <a:rPr sz="1000" b="0" i="0">
                <a:solidFill>
                  <a:srgbClr val="CCDDFF"/>
                </a:solidFill>
                <a:latin typeface="Calibri"/>
              </a:rPr>
              <a:t>• Faith vs. school culture
• Identity + peer pressure
• College decisions + calling
• Dating, boundaries, mental health</a:t>
            </a:r>
          </a:p>
        </p:txBody>
      </p:sp>
      <p:sp>
        <p:nvSpPr>
          <p:cNvPr id="25" name="Rectangle 24"/>
          <p:cNvSpPr/>
          <p:nvPr/>
        </p:nvSpPr>
        <p:spPr>
          <a:xfrm>
            <a:off x="4407408" y="4754880"/>
            <a:ext cx="34747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07408" y="4828032"/>
            <a:ext cx="3474720" cy="777240"/>
          </a:xfrm>
          <a:prstGeom prst="rect">
            <a:avLst/>
          </a:prstGeom>
          <a:noFill/>
        </p:spPr>
        <p:txBody>
          <a:bodyPr wrap="square">
            <a:spAutoFit/>
          </a:bodyPr>
          <a:lstStyle/>
          <a:p>
            <a:pPr algn="l"/>
            <a:r>
              <a:rPr sz="950" b="0" i="1">
                <a:solidFill>
                  <a:srgbClr val="C9A84C"/>
                </a:solidFill>
                <a:latin typeface="Calibri"/>
              </a:rPr>
              <a:t>💡 Teens share content made BY other teens. One episode can spread through an entire high school.</a:t>
            </a:r>
          </a:p>
        </p:txBody>
      </p:sp>
      <p:sp>
        <p:nvSpPr>
          <p:cNvPr id="27" name="Rectangle 26"/>
          <p:cNvSpPr/>
          <p:nvPr/>
        </p:nvSpPr>
        <p:spPr>
          <a:xfrm>
            <a:off x="8220456" y="1371600"/>
            <a:ext cx="3749039" cy="5120640"/>
          </a:xfrm>
          <a:prstGeom prst="rect">
            <a:avLst/>
          </a:prstGeom>
          <a:solidFill>
            <a:srgbClr val="4A1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0456" y="1463040"/>
            <a:ext cx="3749039" cy="548640"/>
          </a:xfrm>
          <a:prstGeom prst="rect">
            <a:avLst/>
          </a:prstGeom>
          <a:noFill/>
        </p:spPr>
        <p:txBody>
          <a:bodyPr wrap="square">
            <a:spAutoFit/>
          </a:bodyPr>
          <a:lstStyle/>
          <a:p>
            <a:pPr algn="ctr"/>
            <a:r>
              <a:rPr sz="2400" b="0" i="0">
                <a:solidFill>
                  <a:srgbClr val="FFFFFF"/>
                </a:solidFill>
                <a:latin typeface="Calibri"/>
              </a:rPr>
              <a:t>🏛️</a:t>
            </a:r>
          </a:p>
        </p:txBody>
      </p:sp>
      <p:sp>
        <p:nvSpPr>
          <p:cNvPr id="29" name="TextBox 28"/>
          <p:cNvSpPr txBox="1"/>
          <p:nvPr/>
        </p:nvSpPr>
        <p:spPr>
          <a:xfrm>
            <a:off x="8220456" y="1965960"/>
            <a:ext cx="3749039" cy="411480"/>
          </a:xfrm>
          <a:prstGeom prst="rect">
            <a:avLst/>
          </a:prstGeom>
          <a:noFill/>
        </p:spPr>
        <p:txBody>
          <a:bodyPr wrap="square">
            <a:spAutoFit/>
          </a:bodyPr>
          <a:lstStyle/>
          <a:p>
            <a:pPr algn="ctr"/>
            <a:r>
              <a:rPr sz="1400" b="1" i="0">
                <a:solidFill>
                  <a:srgbClr val="FFFFFF"/>
                </a:solidFill>
                <a:latin typeface="Calibri"/>
              </a:rPr>
              <a:t>"Built Different"</a:t>
            </a:r>
          </a:p>
        </p:txBody>
      </p:sp>
      <p:sp>
        <p:nvSpPr>
          <p:cNvPr id="30" name="TextBox 29"/>
          <p:cNvSpPr txBox="1"/>
          <p:nvPr/>
        </p:nvSpPr>
        <p:spPr>
          <a:xfrm>
            <a:off x="8220456" y="2350008"/>
            <a:ext cx="3749039" cy="320040"/>
          </a:xfrm>
          <a:prstGeom prst="rect">
            <a:avLst/>
          </a:prstGeom>
          <a:noFill/>
        </p:spPr>
        <p:txBody>
          <a:bodyPr wrap="square">
            <a:spAutoFit/>
          </a:bodyPr>
          <a:lstStyle/>
          <a:p>
            <a:pPr algn="ctr"/>
            <a:r>
              <a:rPr sz="1100" b="1" i="0">
                <a:solidFill>
                  <a:srgbClr val="C9A84C"/>
                </a:solidFill>
                <a:latin typeface="Calibri"/>
              </a:rPr>
              <a:t>Ages 19–25  |  Thursdays</a:t>
            </a:r>
          </a:p>
        </p:txBody>
      </p:sp>
      <p:sp>
        <p:nvSpPr>
          <p:cNvPr id="31" name="Rectangle 30"/>
          <p:cNvSpPr/>
          <p:nvPr/>
        </p:nvSpPr>
        <p:spPr>
          <a:xfrm>
            <a:off x="8403336" y="2697480"/>
            <a:ext cx="338328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57616" y="2788920"/>
            <a:ext cx="3474720" cy="320040"/>
          </a:xfrm>
          <a:prstGeom prst="rect">
            <a:avLst/>
          </a:prstGeom>
          <a:noFill/>
        </p:spPr>
        <p:txBody>
          <a:bodyPr wrap="square">
            <a:spAutoFit/>
          </a:bodyPr>
          <a:lstStyle/>
          <a:p>
            <a:pPr algn="l"/>
            <a:r>
              <a:rPr sz="1050" b="0" i="0">
                <a:solidFill>
                  <a:srgbClr val="FFFFFF"/>
                </a:solidFill>
                <a:latin typeface="Calibri"/>
              </a:rPr>
              <a:t>Host: 1–2 LEBC young adults</a:t>
            </a:r>
          </a:p>
        </p:txBody>
      </p:sp>
      <p:sp>
        <p:nvSpPr>
          <p:cNvPr id="33" name="TextBox 32"/>
          <p:cNvSpPr txBox="1"/>
          <p:nvPr/>
        </p:nvSpPr>
        <p:spPr>
          <a:xfrm>
            <a:off x="8357616" y="3090672"/>
            <a:ext cx="3474720" cy="320040"/>
          </a:xfrm>
          <a:prstGeom prst="rect">
            <a:avLst/>
          </a:prstGeom>
          <a:noFill/>
        </p:spPr>
        <p:txBody>
          <a:bodyPr wrap="square">
            <a:spAutoFit/>
          </a:bodyPr>
          <a:lstStyle/>
          <a:p>
            <a:pPr algn="l"/>
            <a:r>
              <a:rPr sz="1050" b="0" i="0">
                <a:solidFill>
                  <a:srgbClr val="FFFFFF"/>
                </a:solidFill>
                <a:latin typeface="Calibri"/>
              </a:rPr>
              <a:t>Tone: Mature, real, aspirational</a:t>
            </a:r>
          </a:p>
        </p:txBody>
      </p:sp>
      <p:sp>
        <p:nvSpPr>
          <p:cNvPr id="34" name="TextBox 33"/>
          <p:cNvSpPr txBox="1"/>
          <p:nvPr/>
        </p:nvSpPr>
        <p:spPr>
          <a:xfrm>
            <a:off x="8357616" y="3429000"/>
            <a:ext cx="3474720" cy="1280160"/>
          </a:xfrm>
          <a:prstGeom prst="rect">
            <a:avLst/>
          </a:prstGeom>
          <a:noFill/>
        </p:spPr>
        <p:txBody>
          <a:bodyPr wrap="square">
            <a:spAutoFit/>
          </a:bodyPr>
          <a:lstStyle/>
          <a:p>
            <a:pPr algn="l"/>
            <a:r>
              <a:rPr sz="1000" b="0" i="0">
                <a:solidFill>
                  <a:srgbClr val="CCDDFF"/>
                </a:solidFill>
                <a:latin typeface="Calibri"/>
              </a:rPr>
              <a:t>• Career + calling
• Relationships + faith
• Community service in Hutto
• Guest interviews: local leaders</a:t>
            </a:r>
          </a:p>
        </p:txBody>
      </p:sp>
      <p:sp>
        <p:nvSpPr>
          <p:cNvPr id="35" name="Rectangle 34"/>
          <p:cNvSpPr/>
          <p:nvPr/>
        </p:nvSpPr>
        <p:spPr>
          <a:xfrm>
            <a:off x="8357616" y="4754880"/>
            <a:ext cx="34747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57616" y="4828032"/>
            <a:ext cx="3474720" cy="777240"/>
          </a:xfrm>
          <a:prstGeom prst="rect">
            <a:avLst/>
          </a:prstGeom>
          <a:noFill/>
        </p:spPr>
        <p:txBody>
          <a:bodyPr wrap="square">
            <a:spAutoFit/>
          </a:bodyPr>
          <a:lstStyle/>
          <a:p>
            <a:pPr algn="l"/>
            <a:r>
              <a:rPr sz="950" b="0" i="1">
                <a:solidFill>
                  <a:srgbClr val="C9A84C"/>
                </a:solidFill>
                <a:latin typeface="Calibri"/>
              </a:rPr>
              <a:t>💡 Young adults (19–25) are most likely to leave the church — this keeps them connected digitally.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594360"/>
          </a:xfrm>
          <a:prstGeom prst="rect">
            <a:avLst/>
          </a:prstGeom>
          <a:noFill/>
        </p:spPr>
        <p:txBody>
          <a:bodyPr wrap="square">
            <a:spAutoFit/>
          </a:bodyPr>
          <a:lstStyle/>
          <a:p>
            <a:pPr algn="l"/>
            <a:r>
              <a:rPr sz="2800" b="1" i="0">
                <a:solidFill>
                  <a:srgbClr val="FFFFFF"/>
                </a:solidFill>
                <a:latin typeface="Calibri"/>
              </a:rPr>
              <a:t>YOUR TWO OPTIONS</a:t>
            </a:r>
          </a:p>
        </p:txBody>
      </p:sp>
      <p:sp>
        <p:nvSpPr>
          <p:cNvPr id="5" name="Rectangle 4"/>
          <p:cNvSpPr/>
          <p:nvPr/>
        </p:nvSpPr>
        <p:spPr>
          <a:xfrm>
            <a:off x="365760" y="804672"/>
            <a:ext cx="22860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143000"/>
            <a:ext cx="5577840" cy="534924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80160"/>
            <a:ext cx="5120640" cy="411480"/>
          </a:xfrm>
          <a:prstGeom prst="rect">
            <a:avLst/>
          </a:prstGeom>
          <a:noFill/>
        </p:spPr>
        <p:txBody>
          <a:bodyPr wrap="square">
            <a:spAutoFit/>
          </a:bodyPr>
          <a:lstStyle/>
          <a:p>
            <a:pPr algn="l"/>
            <a:r>
              <a:rPr sz="1800" b="1" i="0">
                <a:solidFill>
                  <a:srgbClr val="C9A84C"/>
                </a:solidFill>
                <a:latin typeface="Calibri"/>
              </a:rPr>
              <a:t>OPTION A</a:t>
            </a:r>
          </a:p>
        </p:txBody>
      </p:sp>
      <p:sp>
        <p:nvSpPr>
          <p:cNvPr id="8" name="TextBox 7"/>
          <p:cNvSpPr txBox="1"/>
          <p:nvPr/>
        </p:nvSpPr>
        <p:spPr>
          <a:xfrm>
            <a:off x="548640" y="1664208"/>
            <a:ext cx="5120640" cy="365760"/>
          </a:xfrm>
          <a:prstGeom prst="rect">
            <a:avLst/>
          </a:prstGeom>
          <a:noFill/>
        </p:spPr>
        <p:txBody>
          <a:bodyPr wrap="square">
            <a:spAutoFit/>
          </a:bodyPr>
          <a:lstStyle/>
          <a:p>
            <a:pPr algn="l"/>
            <a:r>
              <a:rPr sz="1400" b="1" i="0">
                <a:solidFill>
                  <a:srgbClr val="FFFFFF"/>
                </a:solidFill>
                <a:latin typeface="Calibri"/>
              </a:rPr>
              <a:t>S2T PRODUCES IT</a:t>
            </a:r>
          </a:p>
        </p:txBody>
      </p:sp>
      <p:sp>
        <p:nvSpPr>
          <p:cNvPr id="9" name="TextBox 8"/>
          <p:cNvSpPr txBox="1"/>
          <p:nvPr/>
        </p:nvSpPr>
        <p:spPr>
          <a:xfrm>
            <a:off x="548640" y="2011680"/>
            <a:ext cx="5120640" cy="320040"/>
          </a:xfrm>
          <a:prstGeom prst="rect">
            <a:avLst/>
          </a:prstGeom>
          <a:noFill/>
        </p:spPr>
        <p:txBody>
          <a:bodyPr wrap="square">
            <a:spAutoFit/>
          </a:bodyPr>
          <a:lstStyle/>
          <a:p>
            <a:pPr algn="l"/>
            <a:r>
              <a:rPr sz="1100" b="0" i="0">
                <a:solidFill>
                  <a:srgbClr val="CCDDFF"/>
                </a:solidFill>
                <a:latin typeface="Calibri"/>
              </a:rPr>
              <a:t>We handle the entire media operation.</a:t>
            </a:r>
          </a:p>
        </p:txBody>
      </p:sp>
      <p:sp>
        <p:nvSpPr>
          <p:cNvPr id="10" name="Rectangle 9"/>
          <p:cNvSpPr/>
          <p:nvPr/>
        </p:nvSpPr>
        <p:spPr>
          <a:xfrm>
            <a:off x="548640" y="2359152"/>
            <a:ext cx="512064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487168"/>
            <a:ext cx="3840480" cy="384048"/>
          </a:xfrm>
          <a:prstGeom prst="rect">
            <a:avLst/>
          </a:prstGeom>
          <a:noFill/>
        </p:spPr>
        <p:txBody>
          <a:bodyPr wrap="square">
            <a:spAutoFit/>
          </a:bodyPr>
          <a:lstStyle/>
          <a:p>
            <a:pPr algn="l"/>
            <a:r>
              <a:rPr sz="1100" b="0" i="0">
                <a:solidFill>
                  <a:srgbClr val="FFFFFF"/>
                </a:solidFill>
                <a:latin typeface="Calibri"/>
              </a:rPr>
              <a:t>• Sermon Podcast (weekly)</a:t>
            </a:r>
          </a:p>
        </p:txBody>
      </p:sp>
      <p:sp>
        <p:nvSpPr>
          <p:cNvPr id="12" name="TextBox 11"/>
          <p:cNvSpPr txBox="1"/>
          <p:nvPr/>
        </p:nvSpPr>
        <p:spPr>
          <a:xfrm>
            <a:off x="4389120" y="2487168"/>
            <a:ext cx="1188720" cy="384048"/>
          </a:xfrm>
          <a:prstGeom prst="rect">
            <a:avLst/>
          </a:prstGeom>
          <a:noFill/>
        </p:spPr>
        <p:txBody>
          <a:bodyPr wrap="square">
            <a:spAutoFit/>
          </a:bodyPr>
          <a:lstStyle/>
          <a:p>
            <a:pPr algn="r"/>
            <a:r>
              <a:rPr sz="1100" b="1" i="0">
                <a:solidFill>
                  <a:srgbClr val="C9A84C"/>
                </a:solidFill>
                <a:latin typeface="Calibri"/>
              </a:rPr>
              <a:t>Included</a:t>
            </a:r>
          </a:p>
        </p:txBody>
      </p:sp>
      <p:sp>
        <p:nvSpPr>
          <p:cNvPr id="13" name="TextBox 12"/>
          <p:cNvSpPr txBox="1"/>
          <p:nvPr/>
        </p:nvSpPr>
        <p:spPr>
          <a:xfrm>
            <a:off x="548640" y="2962656"/>
            <a:ext cx="3840480" cy="384048"/>
          </a:xfrm>
          <a:prstGeom prst="rect">
            <a:avLst/>
          </a:prstGeom>
          <a:noFill/>
        </p:spPr>
        <p:txBody>
          <a:bodyPr wrap="square">
            <a:spAutoFit/>
          </a:bodyPr>
          <a:lstStyle/>
          <a:p>
            <a:pPr algn="l"/>
            <a:r>
              <a:rPr sz="1100" b="0" i="0">
                <a:solidFill>
                  <a:srgbClr val="FFFFFF"/>
                </a:solidFill>
                <a:latin typeface="Calibri"/>
              </a:rPr>
              <a:t>• Social Media Mgmt — 2 platforms</a:t>
            </a:r>
          </a:p>
        </p:txBody>
      </p:sp>
      <p:sp>
        <p:nvSpPr>
          <p:cNvPr id="14" name="TextBox 13"/>
          <p:cNvSpPr txBox="1"/>
          <p:nvPr/>
        </p:nvSpPr>
        <p:spPr>
          <a:xfrm>
            <a:off x="4389120" y="2962656"/>
            <a:ext cx="1188720" cy="384048"/>
          </a:xfrm>
          <a:prstGeom prst="rect">
            <a:avLst/>
          </a:prstGeom>
          <a:noFill/>
        </p:spPr>
        <p:txBody>
          <a:bodyPr wrap="square">
            <a:spAutoFit/>
          </a:bodyPr>
          <a:lstStyle/>
          <a:p>
            <a:pPr algn="r"/>
            <a:r>
              <a:rPr sz="1100" b="1" i="0">
                <a:solidFill>
                  <a:srgbClr val="C9A84C"/>
                </a:solidFill>
                <a:latin typeface="Calibri"/>
              </a:rPr>
              <a:t>$500/mo</a:t>
            </a:r>
          </a:p>
        </p:txBody>
      </p:sp>
      <p:sp>
        <p:nvSpPr>
          <p:cNvPr id="15" name="TextBox 14"/>
          <p:cNvSpPr txBox="1"/>
          <p:nvPr/>
        </p:nvSpPr>
        <p:spPr>
          <a:xfrm>
            <a:off x="548640" y="3438144"/>
            <a:ext cx="3840480" cy="384048"/>
          </a:xfrm>
          <a:prstGeom prst="rect">
            <a:avLst/>
          </a:prstGeom>
          <a:noFill/>
        </p:spPr>
        <p:txBody>
          <a:bodyPr wrap="square">
            <a:spAutoFit/>
          </a:bodyPr>
          <a:lstStyle/>
          <a:p>
            <a:pPr algn="l"/>
            <a:r>
              <a:rPr sz="1100" b="0" i="0">
                <a:solidFill>
                  <a:srgbClr val="FFFFFF"/>
                </a:solidFill>
                <a:latin typeface="Calibri"/>
              </a:rPr>
              <a:t>• Youth Podcast — 1 show</a:t>
            </a:r>
          </a:p>
        </p:txBody>
      </p:sp>
      <p:sp>
        <p:nvSpPr>
          <p:cNvPr id="16" name="TextBox 15"/>
          <p:cNvSpPr txBox="1"/>
          <p:nvPr/>
        </p:nvSpPr>
        <p:spPr>
          <a:xfrm>
            <a:off x="4389120" y="3438144"/>
            <a:ext cx="1188720" cy="384048"/>
          </a:xfrm>
          <a:prstGeom prst="rect">
            <a:avLst/>
          </a:prstGeom>
          <a:noFill/>
        </p:spPr>
        <p:txBody>
          <a:bodyPr wrap="square">
            <a:spAutoFit/>
          </a:bodyPr>
          <a:lstStyle/>
          <a:p>
            <a:pPr algn="r"/>
            <a:r>
              <a:rPr sz="1100" b="1" i="0">
                <a:solidFill>
                  <a:srgbClr val="C9A84C"/>
                </a:solidFill>
                <a:latin typeface="Calibri"/>
              </a:rPr>
              <a:t>+$300/mo</a:t>
            </a:r>
          </a:p>
        </p:txBody>
      </p:sp>
      <p:sp>
        <p:nvSpPr>
          <p:cNvPr id="17" name="TextBox 16"/>
          <p:cNvSpPr txBox="1"/>
          <p:nvPr/>
        </p:nvSpPr>
        <p:spPr>
          <a:xfrm>
            <a:off x="548640" y="3913632"/>
            <a:ext cx="3840480" cy="384048"/>
          </a:xfrm>
          <a:prstGeom prst="rect">
            <a:avLst/>
          </a:prstGeom>
          <a:noFill/>
        </p:spPr>
        <p:txBody>
          <a:bodyPr wrap="square">
            <a:spAutoFit/>
          </a:bodyPr>
          <a:lstStyle/>
          <a:p>
            <a:pPr algn="l"/>
            <a:r>
              <a:rPr sz="1100" b="0" i="0">
                <a:solidFill>
                  <a:srgbClr val="FFFFFF"/>
                </a:solidFill>
                <a:latin typeface="Calibri"/>
              </a:rPr>
              <a:t>• Youth Podcast — all 3 shows</a:t>
            </a:r>
          </a:p>
        </p:txBody>
      </p:sp>
      <p:sp>
        <p:nvSpPr>
          <p:cNvPr id="18" name="TextBox 17"/>
          <p:cNvSpPr txBox="1"/>
          <p:nvPr/>
        </p:nvSpPr>
        <p:spPr>
          <a:xfrm>
            <a:off x="4389120" y="3913632"/>
            <a:ext cx="1188720" cy="384048"/>
          </a:xfrm>
          <a:prstGeom prst="rect">
            <a:avLst/>
          </a:prstGeom>
          <a:noFill/>
        </p:spPr>
        <p:txBody>
          <a:bodyPr wrap="square">
            <a:spAutoFit/>
          </a:bodyPr>
          <a:lstStyle/>
          <a:p>
            <a:pPr algn="r"/>
            <a:r>
              <a:rPr sz="1100" b="1" i="0">
                <a:solidFill>
                  <a:srgbClr val="C9A84C"/>
                </a:solidFill>
                <a:latin typeface="Calibri"/>
              </a:rPr>
              <a:t>+$700/mo</a:t>
            </a:r>
          </a:p>
        </p:txBody>
      </p:sp>
      <p:sp>
        <p:nvSpPr>
          <p:cNvPr id="19" name="TextBox 18"/>
          <p:cNvSpPr txBox="1"/>
          <p:nvPr/>
        </p:nvSpPr>
        <p:spPr>
          <a:xfrm>
            <a:off x="548640" y="4389120"/>
            <a:ext cx="3840480" cy="384048"/>
          </a:xfrm>
          <a:prstGeom prst="rect">
            <a:avLst/>
          </a:prstGeom>
          <a:noFill/>
        </p:spPr>
        <p:txBody>
          <a:bodyPr wrap="square">
            <a:spAutoFit/>
          </a:bodyPr>
          <a:lstStyle/>
          <a:p>
            <a:pPr algn="l"/>
            <a:r>
              <a:rPr sz="1100" b="0" i="0">
                <a:solidFill>
                  <a:srgbClr val="FFFFFF"/>
                </a:solidFill>
                <a:latin typeface="Calibri"/>
              </a:rPr>
              <a:t>• Paid Ad Management</a:t>
            </a:r>
          </a:p>
        </p:txBody>
      </p:sp>
      <p:sp>
        <p:nvSpPr>
          <p:cNvPr id="20" name="TextBox 19"/>
          <p:cNvSpPr txBox="1"/>
          <p:nvPr/>
        </p:nvSpPr>
        <p:spPr>
          <a:xfrm>
            <a:off x="4389120" y="4389120"/>
            <a:ext cx="1188720" cy="384048"/>
          </a:xfrm>
          <a:prstGeom prst="rect">
            <a:avLst/>
          </a:prstGeom>
          <a:noFill/>
        </p:spPr>
        <p:txBody>
          <a:bodyPr wrap="square">
            <a:spAutoFit/>
          </a:bodyPr>
          <a:lstStyle/>
          <a:p>
            <a:pPr algn="r"/>
            <a:r>
              <a:rPr sz="1100" b="1" i="0">
                <a:solidFill>
                  <a:srgbClr val="C9A84C"/>
                </a:solidFill>
                <a:latin typeface="Calibri"/>
              </a:rPr>
              <a:t>+$300/mo</a:t>
            </a:r>
          </a:p>
        </p:txBody>
      </p:sp>
      <p:sp>
        <p:nvSpPr>
          <p:cNvPr id="21" name="Rectangle 20"/>
          <p:cNvSpPr/>
          <p:nvPr/>
        </p:nvSpPr>
        <p:spPr>
          <a:xfrm>
            <a:off x="548640" y="4956048"/>
            <a:ext cx="5120640" cy="5029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001768"/>
            <a:ext cx="4937760" cy="411480"/>
          </a:xfrm>
          <a:prstGeom prst="rect">
            <a:avLst/>
          </a:prstGeom>
          <a:noFill/>
        </p:spPr>
        <p:txBody>
          <a:bodyPr wrap="square">
            <a:spAutoFit/>
          </a:bodyPr>
          <a:lstStyle/>
          <a:p>
            <a:pPr algn="l"/>
            <a:r>
              <a:rPr sz="1100" b="1" i="0">
                <a:solidFill>
                  <a:srgbClr val="1A3A6B"/>
                </a:solidFill>
                <a:latin typeface="Calibri"/>
              </a:rPr>
              <a:t>STARTER PACKAGE: $800/mo + $150–200 ad spend</a:t>
            </a:r>
          </a:p>
        </p:txBody>
      </p:sp>
      <p:sp>
        <p:nvSpPr>
          <p:cNvPr id="23" name="TextBox 22"/>
          <p:cNvSpPr txBox="1"/>
          <p:nvPr/>
        </p:nvSpPr>
        <p:spPr>
          <a:xfrm>
            <a:off x="548640" y="5468112"/>
            <a:ext cx="5120640" cy="365760"/>
          </a:xfrm>
          <a:prstGeom prst="rect">
            <a:avLst/>
          </a:prstGeom>
          <a:noFill/>
        </p:spPr>
        <p:txBody>
          <a:bodyPr wrap="square">
            <a:spAutoFit/>
          </a:bodyPr>
          <a:lstStyle/>
          <a:p>
            <a:pPr algn="l"/>
            <a:r>
              <a:rPr sz="1100" b="0" i="0">
                <a:solidFill>
                  <a:srgbClr val="CCDDFF"/>
                </a:solidFill>
                <a:latin typeface="Calibri"/>
              </a:rPr>
              <a:t>FULL SERVICE: $1,900/mo + ad spend</a:t>
            </a:r>
          </a:p>
        </p:txBody>
      </p:sp>
      <p:sp>
        <p:nvSpPr>
          <p:cNvPr id="24" name="Rectangle 23"/>
          <p:cNvSpPr/>
          <p:nvPr/>
        </p:nvSpPr>
        <p:spPr>
          <a:xfrm>
            <a:off x="6291072" y="1143000"/>
            <a:ext cx="5577840"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19672" y="1280160"/>
            <a:ext cx="5120640" cy="411480"/>
          </a:xfrm>
          <a:prstGeom prst="rect">
            <a:avLst/>
          </a:prstGeom>
          <a:noFill/>
        </p:spPr>
        <p:txBody>
          <a:bodyPr wrap="square">
            <a:spAutoFit/>
          </a:bodyPr>
          <a:lstStyle/>
          <a:p>
            <a:pPr algn="l"/>
            <a:r>
              <a:rPr sz="1800" b="1" i="0">
                <a:solidFill>
                  <a:srgbClr val="1A3A6B"/>
                </a:solidFill>
                <a:latin typeface="Calibri"/>
              </a:rPr>
              <a:t>OPTION B</a:t>
            </a:r>
          </a:p>
        </p:txBody>
      </p:sp>
      <p:sp>
        <p:nvSpPr>
          <p:cNvPr id="26" name="TextBox 25"/>
          <p:cNvSpPr txBox="1"/>
          <p:nvPr/>
        </p:nvSpPr>
        <p:spPr>
          <a:xfrm>
            <a:off x="6519672" y="1664208"/>
            <a:ext cx="5120640" cy="365760"/>
          </a:xfrm>
          <a:prstGeom prst="rect">
            <a:avLst/>
          </a:prstGeom>
          <a:noFill/>
        </p:spPr>
        <p:txBody>
          <a:bodyPr wrap="square">
            <a:spAutoFit/>
          </a:bodyPr>
          <a:lstStyle/>
          <a:p>
            <a:pPr algn="l"/>
            <a:r>
              <a:rPr sz="1300" b="1" i="0">
                <a:solidFill>
                  <a:srgbClr val="1A3A6B"/>
                </a:solidFill>
                <a:latin typeface="Calibri"/>
              </a:rPr>
              <a:t>S2T BUILDS IT — LEBC RUNS IT</a:t>
            </a:r>
          </a:p>
        </p:txBody>
      </p:sp>
      <p:sp>
        <p:nvSpPr>
          <p:cNvPr id="27" name="TextBox 26"/>
          <p:cNvSpPr txBox="1"/>
          <p:nvPr/>
        </p:nvSpPr>
        <p:spPr>
          <a:xfrm>
            <a:off x="6519672" y="2011680"/>
            <a:ext cx="5120640" cy="320040"/>
          </a:xfrm>
          <a:prstGeom prst="rect">
            <a:avLst/>
          </a:prstGeom>
          <a:noFill/>
        </p:spPr>
        <p:txBody>
          <a:bodyPr wrap="square">
            <a:spAutoFit/>
          </a:bodyPr>
          <a:lstStyle/>
          <a:p>
            <a:pPr algn="l"/>
            <a:r>
              <a:rPr sz="1100" b="0" i="0">
                <a:solidFill>
                  <a:srgbClr val="333333"/>
                </a:solidFill>
                <a:latin typeface="Calibri"/>
              </a:rPr>
              <a:t>We set everything up and train your team.</a:t>
            </a:r>
          </a:p>
        </p:txBody>
      </p:sp>
      <p:sp>
        <p:nvSpPr>
          <p:cNvPr id="28" name="Rectangle 27"/>
          <p:cNvSpPr/>
          <p:nvPr/>
        </p:nvSpPr>
        <p:spPr>
          <a:xfrm>
            <a:off x="6519672" y="2359152"/>
            <a:ext cx="5120640" cy="36576"/>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19672" y="2487168"/>
            <a:ext cx="3840480" cy="384048"/>
          </a:xfrm>
          <a:prstGeom prst="rect">
            <a:avLst/>
          </a:prstGeom>
          <a:noFill/>
        </p:spPr>
        <p:txBody>
          <a:bodyPr wrap="square">
            <a:spAutoFit/>
          </a:bodyPr>
          <a:lstStyle/>
          <a:p>
            <a:pPr algn="l"/>
            <a:r>
              <a:rPr sz="1100" b="0" i="0">
                <a:solidFill>
                  <a:srgbClr val="333333"/>
                </a:solidFill>
                <a:latin typeface="Calibri"/>
              </a:rPr>
              <a:t>• Podcast Setup (Spotify + Apple + RSS)</a:t>
            </a:r>
          </a:p>
        </p:txBody>
      </p:sp>
      <p:sp>
        <p:nvSpPr>
          <p:cNvPr id="30" name="TextBox 29"/>
          <p:cNvSpPr txBox="1"/>
          <p:nvPr/>
        </p:nvSpPr>
        <p:spPr>
          <a:xfrm>
            <a:off x="10332720" y="2487168"/>
            <a:ext cx="1188720" cy="384048"/>
          </a:xfrm>
          <a:prstGeom prst="rect">
            <a:avLst/>
          </a:prstGeom>
          <a:noFill/>
        </p:spPr>
        <p:txBody>
          <a:bodyPr wrap="square">
            <a:spAutoFit/>
          </a:bodyPr>
          <a:lstStyle/>
          <a:p>
            <a:pPr algn="r"/>
            <a:r>
              <a:rPr sz="1100" b="1" i="0">
                <a:solidFill>
                  <a:srgbClr val="1A3A6B"/>
                </a:solidFill>
                <a:latin typeface="Calibri"/>
              </a:rPr>
              <a:t>$400</a:t>
            </a:r>
          </a:p>
        </p:txBody>
      </p:sp>
      <p:sp>
        <p:nvSpPr>
          <p:cNvPr id="31" name="TextBox 30"/>
          <p:cNvSpPr txBox="1"/>
          <p:nvPr/>
        </p:nvSpPr>
        <p:spPr>
          <a:xfrm>
            <a:off x="6519672" y="2962656"/>
            <a:ext cx="3840480" cy="384048"/>
          </a:xfrm>
          <a:prstGeom prst="rect">
            <a:avLst/>
          </a:prstGeom>
          <a:noFill/>
        </p:spPr>
        <p:txBody>
          <a:bodyPr wrap="square">
            <a:spAutoFit/>
          </a:bodyPr>
          <a:lstStyle/>
          <a:p>
            <a:pPr algn="l"/>
            <a:r>
              <a:rPr sz="1100" b="0" i="0">
                <a:solidFill>
                  <a:srgbClr val="333333"/>
                </a:solidFill>
                <a:latin typeface="Calibri"/>
              </a:rPr>
              <a:t>• Youth Media Brand Kit (3 shows)</a:t>
            </a:r>
          </a:p>
        </p:txBody>
      </p:sp>
      <p:sp>
        <p:nvSpPr>
          <p:cNvPr id="32" name="TextBox 31"/>
          <p:cNvSpPr txBox="1"/>
          <p:nvPr/>
        </p:nvSpPr>
        <p:spPr>
          <a:xfrm>
            <a:off x="10332720" y="2962656"/>
            <a:ext cx="1188720" cy="384048"/>
          </a:xfrm>
          <a:prstGeom prst="rect">
            <a:avLst/>
          </a:prstGeom>
          <a:noFill/>
        </p:spPr>
        <p:txBody>
          <a:bodyPr wrap="square">
            <a:spAutoFit/>
          </a:bodyPr>
          <a:lstStyle/>
          <a:p>
            <a:pPr algn="r"/>
            <a:r>
              <a:rPr sz="1100" b="1" i="0">
                <a:solidFill>
                  <a:srgbClr val="1A3A6B"/>
                </a:solidFill>
                <a:latin typeface="Calibri"/>
              </a:rPr>
              <a:t>$350</a:t>
            </a:r>
          </a:p>
        </p:txBody>
      </p:sp>
      <p:sp>
        <p:nvSpPr>
          <p:cNvPr id="33" name="TextBox 32"/>
          <p:cNvSpPr txBox="1"/>
          <p:nvPr/>
        </p:nvSpPr>
        <p:spPr>
          <a:xfrm>
            <a:off x="6519672" y="3438144"/>
            <a:ext cx="3840480" cy="384048"/>
          </a:xfrm>
          <a:prstGeom prst="rect">
            <a:avLst/>
          </a:prstGeom>
          <a:noFill/>
        </p:spPr>
        <p:txBody>
          <a:bodyPr wrap="square">
            <a:spAutoFit/>
          </a:bodyPr>
          <a:lstStyle/>
          <a:p>
            <a:pPr algn="l"/>
            <a:r>
              <a:rPr sz="1100" b="0" i="0">
                <a:solidFill>
                  <a:srgbClr val="333333"/>
                </a:solidFill>
                <a:latin typeface="Calibri"/>
              </a:rPr>
              <a:t>• Production SOP + Volunteer Guide</a:t>
            </a:r>
          </a:p>
        </p:txBody>
      </p:sp>
      <p:sp>
        <p:nvSpPr>
          <p:cNvPr id="34" name="TextBox 33"/>
          <p:cNvSpPr txBox="1"/>
          <p:nvPr/>
        </p:nvSpPr>
        <p:spPr>
          <a:xfrm>
            <a:off x="10332720" y="3438144"/>
            <a:ext cx="1188720" cy="384048"/>
          </a:xfrm>
          <a:prstGeom prst="rect">
            <a:avLst/>
          </a:prstGeom>
          <a:noFill/>
        </p:spPr>
        <p:txBody>
          <a:bodyPr wrap="square">
            <a:spAutoFit/>
          </a:bodyPr>
          <a:lstStyle/>
          <a:p>
            <a:pPr algn="r"/>
            <a:r>
              <a:rPr sz="1100" b="1" i="0">
                <a:solidFill>
                  <a:srgbClr val="1A3A6B"/>
                </a:solidFill>
                <a:latin typeface="Calibri"/>
              </a:rPr>
              <a:t>$150</a:t>
            </a:r>
          </a:p>
        </p:txBody>
      </p:sp>
      <p:sp>
        <p:nvSpPr>
          <p:cNvPr id="35" name="TextBox 34"/>
          <p:cNvSpPr txBox="1"/>
          <p:nvPr/>
        </p:nvSpPr>
        <p:spPr>
          <a:xfrm>
            <a:off x="6519672" y="3913632"/>
            <a:ext cx="3840480" cy="384048"/>
          </a:xfrm>
          <a:prstGeom prst="rect">
            <a:avLst/>
          </a:prstGeom>
          <a:noFill/>
        </p:spPr>
        <p:txBody>
          <a:bodyPr wrap="square">
            <a:spAutoFit/>
          </a:bodyPr>
          <a:lstStyle/>
          <a:p>
            <a:pPr algn="l"/>
            <a:r>
              <a:rPr sz="1100" b="0" i="0">
                <a:solidFill>
                  <a:srgbClr val="333333"/>
                </a:solidFill>
                <a:latin typeface="Calibri"/>
              </a:rPr>
              <a:t>• Facebook Ad Campaign Setup</a:t>
            </a:r>
          </a:p>
        </p:txBody>
      </p:sp>
      <p:sp>
        <p:nvSpPr>
          <p:cNvPr id="36" name="TextBox 35"/>
          <p:cNvSpPr txBox="1"/>
          <p:nvPr/>
        </p:nvSpPr>
        <p:spPr>
          <a:xfrm>
            <a:off x="10332720" y="3913632"/>
            <a:ext cx="1188720" cy="384048"/>
          </a:xfrm>
          <a:prstGeom prst="rect">
            <a:avLst/>
          </a:prstGeom>
          <a:noFill/>
        </p:spPr>
        <p:txBody>
          <a:bodyPr wrap="square">
            <a:spAutoFit/>
          </a:bodyPr>
          <a:lstStyle/>
          <a:p>
            <a:pPr algn="r"/>
            <a:r>
              <a:rPr sz="1100" b="1" i="0">
                <a:solidFill>
                  <a:srgbClr val="1A3A6B"/>
                </a:solidFill>
                <a:latin typeface="Calibri"/>
              </a:rPr>
              <a:t>$250</a:t>
            </a:r>
          </a:p>
        </p:txBody>
      </p:sp>
      <p:sp>
        <p:nvSpPr>
          <p:cNvPr id="37" name="TextBox 36"/>
          <p:cNvSpPr txBox="1"/>
          <p:nvPr/>
        </p:nvSpPr>
        <p:spPr>
          <a:xfrm>
            <a:off x="6519672" y="4389120"/>
            <a:ext cx="3840480" cy="384048"/>
          </a:xfrm>
          <a:prstGeom prst="rect">
            <a:avLst/>
          </a:prstGeom>
          <a:noFill/>
        </p:spPr>
        <p:txBody>
          <a:bodyPr wrap="square">
            <a:spAutoFit/>
          </a:bodyPr>
          <a:lstStyle/>
          <a:p>
            <a:pPr algn="l"/>
            <a:r>
              <a:rPr sz="1100" b="0" i="0">
                <a:solidFill>
                  <a:srgbClr val="333333"/>
                </a:solidFill>
                <a:latin typeface="Calibri"/>
              </a:rPr>
              <a:t>• 90-min Training Session (Zoom)</a:t>
            </a:r>
          </a:p>
        </p:txBody>
      </p:sp>
      <p:sp>
        <p:nvSpPr>
          <p:cNvPr id="38" name="TextBox 37"/>
          <p:cNvSpPr txBox="1"/>
          <p:nvPr/>
        </p:nvSpPr>
        <p:spPr>
          <a:xfrm>
            <a:off x="10332720" y="4389120"/>
            <a:ext cx="1188720" cy="384048"/>
          </a:xfrm>
          <a:prstGeom prst="rect">
            <a:avLst/>
          </a:prstGeom>
          <a:noFill/>
        </p:spPr>
        <p:txBody>
          <a:bodyPr wrap="square">
            <a:spAutoFit/>
          </a:bodyPr>
          <a:lstStyle/>
          <a:p>
            <a:pPr algn="r"/>
            <a:r>
              <a:rPr sz="1100" b="1" i="0">
                <a:solidFill>
                  <a:srgbClr val="1A3A6B"/>
                </a:solidFill>
                <a:latin typeface="Calibri"/>
              </a:rPr>
              <a:t>$200</a:t>
            </a:r>
          </a:p>
        </p:txBody>
      </p:sp>
      <p:sp>
        <p:nvSpPr>
          <p:cNvPr id="39" name="Rectangle 38"/>
          <p:cNvSpPr/>
          <p:nvPr/>
        </p:nvSpPr>
        <p:spPr>
          <a:xfrm>
            <a:off x="6519672" y="4956048"/>
            <a:ext cx="5120640" cy="50292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11112" y="5001768"/>
            <a:ext cx="4937760" cy="411480"/>
          </a:xfrm>
          <a:prstGeom prst="rect">
            <a:avLst/>
          </a:prstGeom>
          <a:noFill/>
        </p:spPr>
        <p:txBody>
          <a:bodyPr wrap="square">
            <a:spAutoFit/>
          </a:bodyPr>
          <a:lstStyle/>
          <a:p>
            <a:pPr algn="l"/>
            <a:r>
              <a:rPr sz="1200" b="1" i="0">
                <a:solidFill>
                  <a:srgbClr val="FFFFFF"/>
                </a:solidFill>
                <a:latin typeface="Calibri"/>
              </a:rPr>
              <a:t>ONE-TIME INVESTMENT: $1,350 total</a:t>
            </a:r>
          </a:p>
        </p:txBody>
      </p:sp>
      <p:sp>
        <p:nvSpPr>
          <p:cNvPr id="41" name="TextBox 40"/>
          <p:cNvSpPr txBox="1"/>
          <p:nvPr/>
        </p:nvSpPr>
        <p:spPr>
          <a:xfrm>
            <a:off x="6519672" y="5468112"/>
            <a:ext cx="5120640" cy="365760"/>
          </a:xfrm>
          <a:prstGeom prst="rect">
            <a:avLst/>
          </a:prstGeom>
          <a:noFill/>
        </p:spPr>
        <p:txBody>
          <a:bodyPr wrap="square">
            <a:spAutoFit/>
          </a:bodyPr>
          <a:lstStyle/>
          <a:p>
            <a:pPr algn="l"/>
            <a:r>
              <a:rPr sz="1100" b="0" i="0">
                <a:solidFill>
                  <a:srgbClr val="333333"/>
                </a:solidFill>
                <a:latin typeface="Calibri"/>
              </a:rPr>
              <a:t>Optional: $150/mo check-in retainer</a:t>
            </a:r>
          </a:p>
        </p:txBody>
      </p:sp>
      <p:sp>
        <p:nvSpPr>
          <p:cNvPr id="42" name="Rectangle 41"/>
          <p:cNvSpPr/>
          <p:nvPr/>
        </p:nvSpPr>
        <p:spPr>
          <a:xfrm>
            <a:off x="320040" y="6492240"/>
            <a:ext cx="11548872"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0972800" cy="594360"/>
          </a:xfrm>
          <a:prstGeom prst="rect">
            <a:avLst/>
          </a:prstGeom>
          <a:noFill/>
        </p:spPr>
        <p:txBody>
          <a:bodyPr wrap="square">
            <a:spAutoFit/>
          </a:bodyPr>
          <a:lstStyle/>
          <a:p>
            <a:pPr algn="l"/>
            <a:r>
              <a:rPr sz="2800" b="1" i="0">
                <a:solidFill>
                  <a:srgbClr val="FFFFFF"/>
                </a:solidFill>
                <a:latin typeface="Calibri"/>
              </a:rPr>
              <a:t>OUR RECOMMENDATION</a:t>
            </a:r>
          </a:p>
        </p:txBody>
      </p:sp>
      <p:sp>
        <p:nvSpPr>
          <p:cNvPr id="5" name="Rectangle 4"/>
          <p:cNvSpPr/>
          <p:nvPr/>
        </p:nvSpPr>
        <p:spPr>
          <a:xfrm>
            <a:off x="502920" y="822960"/>
            <a:ext cx="91440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987552"/>
            <a:ext cx="10972800" cy="457200"/>
          </a:xfrm>
          <a:prstGeom prst="rect">
            <a:avLst/>
          </a:prstGeom>
          <a:noFill/>
        </p:spPr>
        <p:txBody>
          <a:bodyPr wrap="square">
            <a:spAutoFit/>
          </a:bodyPr>
          <a:lstStyle/>
          <a:p>
            <a:pPr algn="l"/>
            <a:r>
              <a:rPr sz="1600" b="1" i="0">
                <a:solidFill>
                  <a:srgbClr val="C9A84C"/>
                </a:solidFill>
                <a:latin typeface="Calibri"/>
              </a:rPr>
              <a:t>Start with Option B. Upgrade to Option A when you're ready.</a:t>
            </a:r>
          </a:p>
        </p:txBody>
      </p:sp>
      <p:sp>
        <p:nvSpPr>
          <p:cNvPr id="7" name="TextBox 6"/>
          <p:cNvSpPr txBox="1"/>
          <p:nvPr/>
        </p:nvSpPr>
        <p:spPr>
          <a:xfrm>
            <a:off x="502920" y="1444752"/>
            <a:ext cx="11247120" cy="411480"/>
          </a:xfrm>
          <a:prstGeom prst="rect">
            <a:avLst/>
          </a:prstGeom>
          <a:noFill/>
        </p:spPr>
        <p:txBody>
          <a:bodyPr wrap="square">
            <a:spAutoFit/>
          </a:bodyPr>
          <a:lstStyle/>
          <a:p>
            <a:pPr algn="l"/>
            <a:r>
              <a:rPr sz="1300" b="0" i="0">
                <a:solidFill>
                  <a:srgbClr val="CCDDFF"/>
                </a:solidFill>
                <a:latin typeface="Calibri"/>
              </a:rPr>
              <a:t>This gives LEBC a low-risk entry point with a clear upgrade path — no long-term commitment required.</a:t>
            </a:r>
          </a:p>
        </p:txBody>
      </p:sp>
      <p:sp>
        <p:nvSpPr>
          <p:cNvPr id="8" name="Rectangle 7"/>
          <p:cNvSpPr/>
          <p:nvPr/>
        </p:nvSpPr>
        <p:spPr>
          <a:xfrm>
            <a:off x="502920" y="2057400"/>
            <a:ext cx="1280160" cy="9144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313432"/>
            <a:ext cx="1280160" cy="411480"/>
          </a:xfrm>
          <a:prstGeom prst="rect">
            <a:avLst/>
          </a:prstGeom>
          <a:noFill/>
        </p:spPr>
        <p:txBody>
          <a:bodyPr wrap="square">
            <a:spAutoFit/>
          </a:bodyPr>
          <a:lstStyle/>
          <a:p>
            <a:pPr algn="ctr"/>
            <a:r>
              <a:rPr sz="1100" b="1" i="0">
                <a:solidFill>
                  <a:srgbClr val="1A3A6B"/>
                </a:solidFill>
                <a:latin typeface="Calibri"/>
              </a:rPr>
              <a:t>Week 1</a:t>
            </a:r>
          </a:p>
        </p:txBody>
      </p:sp>
      <p:sp>
        <p:nvSpPr>
          <p:cNvPr id="10" name="Rectangle 9"/>
          <p:cNvSpPr/>
          <p:nvPr/>
        </p:nvSpPr>
        <p:spPr>
          <a:xfrm>
            <a:off x="1828800" y="2057400"/>
            <a:ext cx="4343400" cy="914400"/>
          </a:xfrm>
          <a:prstGeom prst="rect">
            <a:avLst/>
          </a:prstGeom>
          <a:solidFill>
            <a:srgbClr val="1F4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65960" y="2148840"/>
            <a:ext cx="4114800" cy="777240"/>
          </a:xfrm>
          <a:prstGeom prst="rect">
            <a:avLst/>
          </a:prstGeom>
          <a:noFill/>
        </p:spPr>
        <p:txBody>
          <a:bodyPr wrap="square">
            <a:spAutoFit/>
          </a:bodyPr>
          <a:lstStyle/>
          <a:p>
            <a:pPr algn="l"/>
            <a:r>
              <a:rPr sz="1050" b="0" i="0">
                <a:solidFill>
                  <a:srgbClr val="FFFFFF"/>
                </a:solidFill>
                <a:latin typeface="Calibri"/>
              </a:rPr>
              <a:t>Pastor Spence selects Option A or B
Facebook page + YouTube admin access granted to S2T</a:t>
            </a:r>
          </a:p>
        </p:txBody>
      </p:sp>
      <p:sp>
        <p:nvSpPr>
          <p:cNvPr id="12" name="Rectangle 11"/>
          <p:cNvSpPr/>
          <p:nvPr/>
        </p:nvSpPr>
        <p:spPr>
          <a:xfrm>
            <a:off x="502920" y="3200400"/>
            <a:ext cx="1280160" cy="9144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456432"/>
            <a:ext cx="1280160" cy="411480"/>
          </a:xfrm>
          <a:prstGeom prst="rect">
            <a:avLst/>
          </a:prstGeom>
          <a:noFill/>
        </p:spPr>
        <p:txBody>
          <a:bodyPr wrap="square">
            <a:spAutoFit/>
          </a:bodyPr>
          <a:lstStyle/>
          <a:p>
            <a:pPr algn="ctr"/>
            <a:r>
              <a:rPr sz="1100" b="1" i="0">
                <a:solidFill>
                  <a:srgbClr val="1A3A6B"/>
                </a:solidFill>
                <a:latin typeface="Calibri"/>
              </a:rPr>
              <a:t>Week 2</a:t>
            </a:r>
          </a:p>
        </p:txBody>
      </p:sp>
      <p:sp>
        <p:nvSpPr>
          <p:cNvPr id="14" name="Rectangle 13"/>
          <p:cNvSpPr/>
          <p:nvPr/>
        </p:nvSpPr>
        <p:spPr>
          <a:xfrm>
            <a:off x="1828800" y="3200400"/>
            <a:ext cx="4343400" cy="914400"/>
          </a:xfrm>
          <a:prstGeom prst="rect">
            <a:avLst/>
          </a:prstGeom>
          <a:solidFill>
            <a:srgbClr val="1F4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65960" y="3291840"/>
            <a:ext cx="4114800" cy="777240"/>
          </a:xfrm>
          <a:prstGeom prst="rect">
            <a:avLst/>
          </a:prstGeom>
          <a:noFill/>
        </p:spPr>
        <p:txBody>
          <a:bodyPr wrap="square">
            <a:spAutoFit/>
          </a:bodyPr>
          <a:lstStyle/>
          <a:p>
            <a:pPr algn="l"/>
            <a:r>
              <a:rPr sz="1050" b="0" i="0">
                <a:solidFill>
                  <a:srgbClr val="FFFFFF"/>
                </a:solidFill>
                <a:latin typeface="Calibri"/>
              </a:rPr>
              <a:t>Facebook + Instagram ad campaign goes live
Podcast channel created on Spotify + Apple Podcasts</a:t>
            </a:r>
          </a:p>
        </p:txBody>
      </p:sp>
      <p:sp>
        <p:nvSpPr>
          <p:cNvPr id="16" name="Rectangle 15"/>
          <p:cNvSpPr/>
          <p:nvPr/>
        </p:nvSpPr>
        <p:spPr>
          <a:xfrm>
            <a:off x="502920" y="4343400"/>
            <a:ext cx="1280160" cy="9144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4599432"/>
            <a:ext cx="1280160" cy="411480"/>
          </a:xfrm>
          <a:prstGeom prst="rect">
            <a:avLst/>
          </a:prstGeom>
          <a:noFill/>
        </p:spPr>
        <p:txBody>
          <a:bodyPr wrap="square">
            <a:spAutoFit/>
          </a:bodyPr>
          <a:lstStyle/>
          <a:p>
            <a:pPr algn="ctr"/>
            <a:r>
              <a:rPr sz="1100" b="1" i="0">
                <a:solidFill>
                  <a:srgbClr val="1A3A6B"/>
                </a:solidFill>
                <a:latin typeface="Calibri"/>
              </a:rPr>
              <a:t>Week 3</a:t>
            </a:r>
          </a:p>
        </p:txBody>
      </p:sp>
      <p:sp>
        <p:nvSpPr>
          <p:cNvPr id="18" name="Rectangle 17"/>
          <p:cNvSpPr/>
          <p:nvPr/>
        </p:nvSpPr>
        <p:spPr>
          <a:xfrm>
            <a:off x="1828800" y="4343400"/>
            <a:ext cx="4343400" cy="914400"/>
          </a:xfrm>
          <a:prstGeom prst="rect">
            <a:avLst/>
          </a:prstGeom>
          <a:solidFill>
            <a:srgbClr val="1F4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65960" y="4434840"/>
            <a:ext cx="4114800" cy="777240"/>
          </a:xfrm>
          <a:prstGeom prst="rect">
            <a:avLst/>
          </a:prstGeom>
          <a:noFill/>
        </p:spPr>
        <p:txBody>
          <a:bodyPr wrap="square">
            <a:spAutoFit/>
          </a:bodyPr>
          <a:lstStyle/>
          <a:p>
            <a:pPr algn="l"/>
            <a:r>
              <a:rPr sz="1050" b="0" i="0">
                <a:solidFill>
                  <a:srgbClr val="FFFFFF"/>
                </a:solidFill>
                <a:latin typeface="Calibri"/>
              </a:rPr>
              <a:t>Sermon Podcast Episode 1 published
(Pulled from existing YouTube library — no new recording)</a:t>
            </a:r>
          </a:p>
        </p:txBody>
      </p:sp>
      <p:sp>
        <p:nvSpPr>
          <p:cNvPr id="20" name="Rectangle 19"/>
          <p:cNvSpPr/>
          <p:nvPr/>
        </p:nvSpPr>
        <p:spPr>
          <a:xfrm>
            <a:off x="502920" y="5486400"/>
            <a:ext cx="1280160" cy="9144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742432"/>
            <a:ext cx="1280160" cy="411480"/>
          </a:xfrm>
          <a:prstGeom prst="rect">
            <a:avLst/>
          </a:prstGeom>
          <a:noFill/>
        </p:spPr>
        <p:txBody>
          <a:bodyPr wrap="square">
            <a:spAutoFit/>
          </a:bodyPr>
          <a:lstStyle/>
          <a:p>
            <a:pPr algn="ctr"/>
            <a:r>
              <a:rPr sz="1100" b="1" i="0">
                <a:solidFill>
                  <a:srgbClr val="1A3A6B"/>
                </a:solidFill>
                <a:latin typeface="Calibri"/>
              </a:rPr>
              <a:t>Week 4</a:t>
            </a:r>
          </a:p>
        </p:txBody>
      </p:sp>
      <p:sp>
        <p:nvSpPr>
          <p:cNvPr id="22" name="Rectangle 21"/>
          <p:cNvSpPr/>
          <p:nvPr/>
        </p:nvSpPr>
        <p:spPr>
          <a:xfrm>
            <a:off x="1828800" y="5486400"/>
            <a:ext cx="4343400" cy="914400"/>
          </a:xfrm>
          <a:prstGeom prst="rect">
            <a:avLst/>
          </a:prstGeom>
          <a:solidFill>
            <a:srgbClr val="1F4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65960" y="5577840"/>
            <a:ext cx="4114800" cy="777240"/>
          </a:xfrm>
          <a:prstGeom prst="rect">
            <a:avLst/>
          </a:prstGeom>
          <a:noFill/>
        </p:spPr>
        <p:txBody>
          <a:bodyPr wrap="square">
            <a:spAutoFit/>
          </a:bodyPr>
          <a:lstStyle/>
          <a:p>
            <a:pPr algn="l"/>
            <a:r>
              <a:rPr sz="1050" b="0" i="0">
                <a:solidFill>
                  <a:srgbClr val="FFFFFF"/>
                </a:solidFill>
                <a:latin typeface="Calibri"/>
              </a:rPr>
              <a:t>Youth podcast hosts confirmed from LEBC ministry
Show names + branding finalized</a:t>
            </a:r>
          </a:p>
        </p:txBody>
      </p:sp>
      <p:sp>
        <p:nvSpPr>
          <p:cNvPr id="24" name="Rectangle 23"/>
          <p:cNvSpPr/>
          <p:nvPr/>
        </p:nvSpPr>
        <p:spPr>
          <a:xfrm>
            <a:off x="6400800" y="2057400"/>
            <a:ext cx="1280160" cy="9144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2313432"/>
            <a:ext cx="1280160" cy="411480"/>
          </a:xfrm>
          <a:prstGeom prst="rect">
            <a:avLst/>
          </a:prstGeom>
          <a:noFill/>
        </p:spPr>
        <p:txBody>
          <a:bodyPr wrap="square">
            <a:spAutoFit/>
          </a:bodyPr>
          <a:lstStyle/>
          <a:p>
            <a:pPr algn="ctr"/>
            <a:r>
              <a:rPr sz="1100" b="1" i="0">
                <a:solidFill>
                  <a:srgbClr val="1A3A6B"/>
                </a:solidFill>
                <a:latin typeface="Calibri"/>
              </a:rPr>
              <a:t>Month 2</a:t>
            </a:r>
          </a:p>
        </p:txBody>
      </p:sp>
      <p:sp>
        <p:nvSpPr>
          <p:cNvPr id="26" name="Rectangle 25"/>
          <p:cNvSpPr/>
          <p:nvPr/>
        </p:nvSpPr>
        <p:spPr>
          <a:xfrm>
            <a:off x="7726679" y="2057400"/>
            <a:ext cx="4343400" cy="914400"/>
          </a:xfrm>
          <a:prstGeom prst="rect">
            <a:avLst/>
          </a:prstGeom>
          <a:solidFill>
            <a:srgbClr val="1F4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0" y="2148840"/>
            <a:ext cx="4114800" cy="777240"/>
          </a:xfrm>
          <a:prstGeom prst="rect">
            <a:avLst/>
          </a:prstGeom>
          <a:noFill/>
        </p:spPr>
        <p:txBody>
          <a:bodyPr wrap="square">
            <a:spAutoFit/>
          </a:bodyPr>
          <a:lstStyle/>
          <a:p>
            <a:pPr algn="l"/>
            <a:r>
              <a:rPr sz="1050" b="0" i="0">
                <a:solidFill>
                  <a:srgbClr val="FFFFFF"/>
                </a:solidFill>
                <a:latin typeface="Calibri"/>
              </a:rPr>
              <a:t>First youth episode recorded and published
YouTube channel optimized (670 videos organized into playlists)</a:t>
            </a:r>
          </a:p>
        </p:txBody>
      </p:sp>
      <p:sp>
        <p:nvSpPr>
          <p:cNvPr id="28" name="Rectangle 27"/>
          <p:cNvSpPr/>
          <p:nvPr/>
        </p:nvSpPr>
        <p:spPr>
          <a:xfrm>
            <a:off x="6400800" y="3200400"/>
            <a:ext cx="1280160" cy="9144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3456432"/>
            <a:ext cx="1280160" cy="411480"/>
          </a:xfrm>
          <a:prstGeom prst="rect">
            <a:avLst/>
          </a:prstGeom>
          <a:noFill/>
        </p:spPr>
        <p:txBody>
          <a:bodyPr wrap="square">
            <a:spAutoFit/>
          </a:bodyPr>
          <a:lstStyle/>
          <a:p>
            <a:pPr algn="ctr"/>
            <a:r>
              <a:rPr sz="1100" b="1" i="0">
                <a:solidFill>
                  <a:srgbClr val="1A3A6B"/>
                </a:solidFill>
                <a:latin typeface="Calibri"/>
              </a:rPr>
              <a:t>Month 3</a:t>
            </a:r>
          </a:p>
        </p:txBody>
      </p:sp>
      <p:sp>
        <p:nvSpPr>
          <p:cNvPr id="30" name="Rectangle 29"/>
          <p:cNvSpPr/>
          <p:nvPr/>
        </p:nvSpPr>
        <p:spPr>
          <a:xfrm>
            <a:off x="7726679" y="3200400"/>
            <a:ext cx="4343400" cy="914400"/>
          </a:xfrm>
          <a:prstGeom prst="rect">
            <a:avLst/>
          </a:prstGeom>
          <a:solidFill>
            <a:srgbClr val="1F4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0" y="3291840"/>
            <a:ext cx="4114800" cy="777240"/>
          </a:xfrm>
          <a:prstGeom prst="rect">
            <a:avLst/>
          </a:prstGeom>
          <a:noFill/>
        </p:spPr>
        <p:txBody>
          <a:bodyPr wrap="square">
            <a:spAutoFit/>
          </a:bodyPr>
          <a:lstStyle/>
          <a:p>
            <a:pPr algn="l"/>
            <a:r>
              <a:rPr sz="1050" b="0" i="0">
                <a:solidFill>
                  <a:srgbClr val="FFFFFF"/>
                </a:solidFill>
                <a:latin typeface="Calibri"/>
              </a:rPr>
              <a:t>All 3 youth shows active
Ad campaign optimized based on first 60 days of data</a:t>
            </a:r>
          </a:p>
        </p:txBody>
      </p:sp>
      <p:sp>
        <p:nvSpPr>
          <p:cNvPr id="32" name="Rectangle 31"/>
          <p:cNvSpPr/>
          <p:nvPr/>
        </p:nvSpPr>
        <p:spPr>
          <a:xfrm>
            <a:off x="6400800" y="4343400"/>
            <a:ext cx="1280160" cy="9144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4599432"/>
            <a:ext cx="1280160" cy="411480"/>
          </a:xfrm>
          <a:prstGeom prst="rect">
            <a:avLst/>
          </a:prstGeom>
          <a:noFill/>
        </p:spPr>
        <p:txBody>
          <a:bodyPr wrap="square">
            <a:spAutoFit/>
          </a:bodyPr>
          <a:lstStyle/>
          <a:p>
            <a:pPr algn="ctr"/>
            <a:r>
              <a:rPr sz="1100" b="1" i="0">
                <a:solidFill>
                  <a:srgbClr val="1A3A6B"/>
                </a:solidFill>
                <a:latin typeface="Calibri"/>
              </a:rPr>
              <a:t>Month 6</a:t>
            </a:r>
          </a:p>
        </p:txBody>
      </p:sp>
      <p:sp>
        <p:nvSpPr>
          <p:cNvPr id="34" name="Rectangle 33"/>
          <p:cNvSpPr/>
          <p:nvPr/>
        </p:nvSpPr>
        <p:spPr>
          <a:xfrm>
            <a:off x="7726679" y="4343400"/>
            <a:ext cx="4343400" cy="914400"/>
          </a:xfrm>
          <a:prstGeom prst="rect">
            <a:avLst/>
          </a:prstGeom>
          <a:solidFill>
            <a:srgbClr val="1F4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0" y="4434840"/>
            <a:ext cx="4114800" cy="777240"/>
          </a:xfrm>
          <a:prstGeom prst="rect">
            <a:avLst/>
          </a:prstGeom>
          <a:noFill/>
        </p:spPr>
        <p:txBody>
          <a:bodyPr wrap="square">
            <a:spAutoFit/>
          </a:bodyPr>
          <a:lstStyle/>
          <a:p>
            <a:pPr algn="l"/>
            <a:r>
              <a:rPr sz="1050" b="0" i="0">
                <a:solidFill>
                  <a:srgbClr val="FFFFFF"/>
                </a:solidFill>
                <a:latin typeface="Calibri"/>
              </a:rPr>
              <a:t>Full 90-day growth report presented to Pastor Spence
Upgrade decision: stay on Option B or move to Option 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10972800" cy="594360"/>
          </a:xfrm>
          <a:prstGeom prst="rect">
            <a:avLst/>
          </a:prstGeom>
          <a:noFill/>
        </p:spPr>
        <p:txBody>
          <a:bodyPr wrap="square">
            <a:spAutoFit/>
          </a:bodyPr>
          <a:lstStyle/>
          <a:p>
            <a:pPr algn="l"/>
            <a:r>
              <a:rPr sz="2600" b="1" i="0">
                <a:solidFill>
                  <a:srgbClr val="FFFFFF"/>
                </a:solidFill>
                <a:latin typeface="Calibri"/>
              </a:rPr>
              <a:t>📈  90-DAY SUCCESS TARGETS</a:t>
            </a:r>
          </a:p>
        </p:txBody>
      </p:sp>
      <p:sp>
        <p:nvSpPr>
          <p:cNvPr id="5" name="Rectangle 4"/>
          <p:cNvSpPr/>
          <p:nvPr/>
        </p:nvSpPr>
        <p:spPr>
          <a:xfrm>
            <a:off x="365760" y="804672"/>
            <a:ext cx="27432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143000"/>
            <a:ext cx="5029200" cy="41148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94960" y="1143000"/>
            <a:ext cx="3017520" cy="41148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58200" y="1143000"/>
            <a:ext cx="3383280" cy="41148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88720"/>
            <a:ext cx="4754880" cy="347472"/>
          </a:xfrm>
          <a:prstGeom prst="rect">
            <a:avLst/>
          </a:prstGeom>
          <a:noFill/>
        </p:spPr>
        <p:txBody>
          <a:bodyPr wrap="square">
            <a:spAutoFit/>
          </a:bodyPr>
          <a:lstStyle/>
          <a:p>
            <a:pPr algn="l"/>
            <a:r>
              <a:rPr sz="1100" b="1" i="0">
                <a:solidFill>
                  <a:srgbClr val="FFFFFF"/>
                </a:solidFill>
                <a:latin typeface="Calibri"/>
              </a:rPr>
              <a:t>METRIC</a:t>
            </a:r>
          </a:p>
        </p:txBody>
      </p:sp>
      <p:sp>
        <p:nvSpPr>
          <p:cNvPr id="10" name="TextBox 9"/>
          <p:cNvSpPr txBox="1"/>
          <p:nvPr/>
        </p:nvSpPr>
        <p:spPr>
          <a:xfrm>
            <a:off x="5577840" y="1188720"/>
            <a:ext cx="2743200" cy="347472"/>
          </a:xfrm>
          <a:prstGeom prst="rect">
            <a:avLst/>
          </a:prstGeom>
          <a:noFill/>
        </p:spPr>
        <p:txBody>
          <a:bodyPr wrap="square">
            <a:spAutoFit/>
          </a:bodyPr>
          <a:lstStyle/>
          <a:p>
            <a:pPr algn="ctr"/>
            <a:r>
              <a:rPr sz="1100" b="1" i="0">
                <a:solidFill>
                  <a:srgbClr val="FFFFFF"/>
                </a:solidFill>
                <a:latin typeface="Calibri"/>
              </a:rPr>
              <a:t>TODAY</a:t>
            </a:r>
          </a:p>
        </p:txBody>
      </p:sp>
      <p:sp>
        <p:nvSpPr>
          <p:cNvPr id="11" name="TextBox 10"/>
          <p:cNvSpPr txBox="1"/>
          <p:nvPr/>
        </p:nvSpPr>
        <p:spPr>
          <a:xfrm>
            <a:off x="8641080" y="1188720"/>
            <a:ext cx="3017520" cy="347472"/>
          </a:xfrm>
          <a:prstGeom prst="rect">
            <a:avLst/>
          </a:prstGeom>
          <a:noFill/>
        </p:spPr>
        <p:txBody>
          <a:bodyPr wrap="square">
            <a:spAutoFit/>
          </a:bodyPr>
          <a:lstStyle/>
          <a:p>
            <a:pPr algn="ctr"/>
            <a:r>
              <a:rPr sz="1100" b="1" i="0">
                <a:solidFill>
                  <a:srgbClr val="FFFFFF"/>
                </a:solidFill>
                <a:latin typeface="Calibri"/>
              </a:rPr>
              <a:t>90-DAY TARGET</a:t>
            </a:r>
          </a:p>
        </p:txBody>
      </p:sp>
      <p:sp>
        <p:nvSpPr>
          <p:cNvPr id="12" name="Rectangle 11"/>
          <p:cNvSpPr/>
          <p:nvPr/>
        </p:nvSpPr>
        <p:spPr>
          <a:xfrm>
            <a:off x="320040" y="1645920"/>
            <a:ext cx="50292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94960" y="1645920"/>
            <a:ext cx="301752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458200" y="1645920"/>
            <a:ext cx="338328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719072"/>
            <a:ext cx="4754880" cy="384048"/>
          </a:xfrm>
          <a:prstGeom prst="rect">
            <a:avLst/>
          </a:prstGeom>
          <a:noFill/>
        </p:spPr>
        <p:txBody>
          <a:bodyPr wrap="square">
            <a:spAutoFit/>
          </a:bodyPr>
          <a:lstStyle/>
          <a:p>
            <a:pPr algn="l"/>
            <a:r>
              <a:rPr sz="1150" b="0" i="0">
                <a:solidFill>
                  <a:srgbClr val="333333"/>
                </a:solidFill>
                <a:latin typeface="Calibri"/>
              </a:rPr>
              <a:t>Facebook Followers</a:t>
            </a:r>
          </a:p>
        </p:txBody>
      </p:sp>
      <p:sp>
        <p:nvSpPr>
          <p:cNvPr id="16" name="TextBox 15"/>
          <p:cNvSpPr txBox="1"/>
          <p:nvPr/>
        </p:nvSpPr>
        <p:spPr>
          <a:xfrm>
            <a:off x="5394960" y="1719072"/>
            <a:ext cx="3017520" cy="384048"/>
          </a:xfrm>
          <a:prstGeom prst="rect">
            <a:avLst/>
          </a:prstGeom>
          <a:noFill/>
        </p:spPr>
        <p:txBody>
          <a:bodyPr wrap="square">
            <a:spAutoFit/>
          </a:bodyPr>
          <a:lstStyle/>
          <a:p>
            <a:pPr algn="ctr"/>
            <a:r>
              <a:rPr sz="1150" b="0" i="0">
                <a:solidFill>
                  <a:srgbClr val="333333"/>
                </a:solidFill>
                <a:latin typeface="Calibri"/>
              </a:rPr>
              <a:t>937</a:t>
            </a:r>
          </a:p>
        </p:txBody>
      </p:sp>
      <p:sp>
        <p:nvSpPr>
          <p:cNvPr id="17" name="Rectangle 16"/>
          <p:cNvSpPr/>
          <p:nvPr/>
        </p:nvSpPr>
        <p:spPr>
          <a:xfrm>
            <a:off x="8458200" y="1645920"/>
            <a:ext cx="3383280" cy="50292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49640" y="1719072"/>
            <a:ext cx="3200400" cy="384048"/>
          </a:xfrm>
          <a:prstGeom prst="rect">
            <a:avLst/>
          </a:prstGeom>
          <a:noFill/>
        </p:spPr>
        <p:txBody>
          <a:bodyPr wrap="square">
            <a:spAutoFit/>
          </a:bodyPr>
          <a:lstStyle/>
          <a:p>
            <a:pPr algn="ctr"/>
            <a:r>
              <a:rPr sz="1200" b="1" i="0">
                <a:solidFill>
                  <a:srgbClr val="FFFFFF"/>
                </a:solidFill>
                <a:latin typeface="Calibri"/>
              </a:rPr>
              <a:t>1,200+</a:t>
            </a:r>
          </a:p>
        </p:txBody>
      </p:sp>
      <p:sp>
        <p:nvSpPr>
          <p:cNvPr id="19" name="Rectangle 18"/>
          <p:cNvSpPr/>
          <p:nvPr/>
        </p:nvSpPr>
        <p:spPr>
          <a:xfrm>
            <a:off x="320040" y="2221992"/>
            <a:ext cx="5029200" cy="5029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394960" y="2221992"/>
            <a:ext cx="3017520" cy="5029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458200" y="2221992"/>
            <a:ext cx="3383280" cy="5029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2295144"/>
            <a:ext cx="4754880" cy="384048"/>
          </a:xfrm>
          <a:prstGeom prst="rect">
            <a:avLst/>
          </a:prstGeom>
          <a:noFill/>
        </p:spPr>
        <p:txBody>
          <a:bodyPr wrap="square">
            <a:spAutoFit/>
          </a:bodyPr>
          <a:lstStyle/>
          <a:p>
            <a:pPr algn="l"/>
            <a:r>
              <a:rPr sz="1150" b="0" i="0">
                <a:solidFill>
                  <a:srgbClr val="333333"/>
                </a:solidFill>
                <a:latin typeface="Calibri"/>
              </a:rPr>
              <a:t>Facebook Engagement Rate</a:t>
            </a:r>
          </a:p>
        </p:txBody>
      </p:sp>
      <p:sp>
        <p:nvSpPr>
          <p:cNvPr id="23" name="TextBox 22"/>
          <p:cNvSpPr txBox="1"/>
          <p:nvPr/>
        </p:nvSpPr>
        <p:spPr>
          <a:xfrm>
            <a:off x="5394960" y="2295144"/>
            <a:ext cx="3017520" cy="384048"/>
          </a:xfrm>
          <a:prstGeom prst="rect">
            <a:avLst/>
          </a:prstGeom>
          <a:noFill/>
        </p:spPr>
        <p:txBody>
          <a:bodyPr wrap="square">
            <a:spAutoFit/>
          </a:bodyPr>
          <a:lstStyle/>
          <a:p>
            <a:pPr algn="ctr"/>
            <a:r>
              <a:rPr sz="1150" b="0" i="0">
                <a:solidFill>
                  <a:srgbClr val="333333"/>
                </a:solidFill>
                <a:latin typeface="Calibri"/>
              </a:rPr>
              <a:t>~0.2%</a:t>
            </a:r>
          </a:p>
        </p:txBody>
      </p:sp>
      <p:sp>
        <p:nvSpPr>
          <p:cNvPr id="24" name="Rectangle 23"/>
          <p:cNvSpPr/>
          <p:nvPr/>
        </p:nvSpPr>
        <p:spPr>
          <a:xfrm>
            <a:off x="8458200" y="2221992"/>
            <a:ext cx="3383280" cy="50292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49640" y="2295144"/>
            <a:ext cx="3200400" cy="384048"/>
          </a:xfrm>
          <a:prstGeom prst="rect">
            <a:avLst/>
          </a:prstGeom>
          <a:noFill/>
        </p:spPr>
        <p:txBody>
          <a:bodyPr wrap="square">
            <a:spAutoFit/>
          </a:bodyPr>
          <a:lstStyle/>
          <a:p>
            <a:pPr algn="ctr"/>
            <a:r>
              <a:rPr sz="1200" b="1" i="0">
                <a:solidFill>
                  <a:srgbClr val="FFFFFF"/>
                </a:solidFill>
                <a:latin typeface="Calibri"/>
              </a:rPr>
              <a:t>5%+</a:t>
            </a:r>
          </a:p>
        </p:txBody>
      </p:sp>
      <p:sp>
        <p:nvSpPr>
          <p:cNvPr id="26" name="Rectangle 25"/>
          <p:cNvSpPr/>
          <p:nvPr/>
        </p:nvSpPr>
        <p:spPr>
          <a:xfrm>
            <a:off x="320040" y="2798064"/>
            <a:ext cx="50292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394960" y="2798064"/>
            <a:ext cx="301752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458200" y="2798064"/>
            <a:ext cx="338328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2871216"/>
            <a:ext cx="4754880" cy="384048"/>
          </a:xfrm>
          <a:prstGeom prst="rect">
            <a:avLst/>
          </a:prstGeom>
          <a:noFill/>
        </p:spPr>
        <p:txBody>
          <a:bodyPr wrap="square">
            <a:spAutoFit/>
          </a:bodyPr>
          <a:lstStyle/>
          <a:p>
            <a:pPr algn="l"/>
            <a:r>
              <a:rPr sz="1150" b="0" i="0">
                <a:solidFill>
                  <a:srgbClr val="333333"/>
                </a:solidFill>
                <a:latin typeface="Calibri"/>
              </a:rPr>
              <a:t>Instagram Followers</a:t>
            </a:r>
          </a:p>
        </p:txBody>
      </p:sp>
      <p:sp>
        <p:nvSpPr>
          <p:cNvPr id="30" name="TextBox 29"/>
          <p:cNvSpPr txBox="1"/>
          <p:nvPr/>
        </p:nvSpPr>
        <p:spPr>
          <a:xfrm>
            <a:off x="5394960" y="2871216"/>
            <a:ext cx="3017520" cy="384048"/>
          </a:xfrm>
          <a:prstGeom prst="rect">
            <a:avLst/>
          </a:prstGeom>
          <a:noFill/>
        </p:spPr>
        <p:txBody>
          <a:bodyPr wrap="square">
            <a:spAutoFit/>
          </a:bodyPr>
          <a:lstStyle/>
          <a:p>
            <a:pPr algn="ctr"/>
            <a:r>
              <a:rPr sz="1150" b="0" i="0">
                <a:solidFill>
                  <a:srgbClr val="333333"/>
                </a:solidFill>
                <a:latin typeface="Calibri"/>
              </a:rPr>
              <a:t>17</a:t>
            </a:r>
          </a:p>
        </p:txBody>
      </p:sp>
      <p:sp>
        <p:nvSpPr>
          <p:cNvPr id="31" name="Rectangle 30"/>
          <p:cNvSpPr/>
          <p:nvPr/>
        </p:nvSpPr>
        <p:spPr>
          <a:xfrm>
            <a:off x="8458200" y="2798064"/>
            <a:ext cx="3383280" cy="502920"/>
          </a:xfrm>
          <a:prstGeom prst="rect">
            <a:avLst/>
          </a:prstGeom>
          <a:solidFill>
            <a:srgbClr val="2B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49640" y="2871216"/>
            <a:ext cx="3200400" cy="384048"/>
          </a:xfrm>
          <a:prstGeom prst="rect">
            <a:avLst/>
          </a:prstGeom>
          <a:noFill/>
        </p:spPr>
        <p:txBody>
          <a:bodyPr wrap="square">
            <a:spAutoFit/>
          </a:bodyPr>
          <a:lstStyle/>
          <a:p>
            <a:pPr algn="ctr"/>
            <a:r>
              <a:rPr sz="1200" b="1" i="0">
                <a:solidFill>
                  <a:srgbClr val="FFFFFF"/>
                </a:solidFill>
                <a:latin typeface="Calibri"/>
              </a:rPr>
              <a:t>200+</a:t>
            </a:r>
          </a:p>
        </p:txBody>
      </p:sp>
      <p:sp>
        <p:nvSpPr>
          <p:cNvPr id="33" name="Rectangle 32"/>
          <p:cNvSpPr/>
          <p:nvPr/>
        </p:nvSpPr>
        <p:spPr>
          <a:xfrm>
            <a:off x="320040" y="3374136"/>
            <a:ext cx="5029200" cy="5029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394960" y="3374136"/>
            <a:ext cx="3017520" cy="5029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458200" y="3374136"/>
            <a:ext cx="3383280" cy="5029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3447288"/>
            <a:ext cx="4754880" cy="384048"/>
          </a:xfrm>
          <a:prstGeom prst="rect">
            <a:avLst/>
          </a:prstGeom>
          <a:noFill/>
        </p:spPr>
        <p:txBody>
          <a:bodyPr wrap="square">
            <a:spAutoFit/>
          </a:bodyPr>
          <a:lstStyle/>
          <a:p>
            <a:pPr algn="l"/>
            <a:r>
              <a:rPr sz="1150" b="0" i="0">
                <a:solidFill>
                  <a:srgbClr val="333333"/>
                </a:solidFill>
                <a:latin typeface="Calibri"/>
              </a:rPr>
              <a:t>YouTube Subscribers</a:t>
            </a:r>
          </a:p>
        </p:txBody>
      </p:sp>
      <p:sp>
        <p:nvSpPr>
          <p:cNvPr id="37" name="TextBox 36"/>
          <p:cNvSpPr txBox="1"/>
          <p:nvPr/>
        </p:nvSpPr>
        <p:spPr>
          <a:xfrm>
            <a:off x="5394960" y="3447288"/>
            <a:ext cx="3017520" cy="384048"/>
          </a:xfrm>
          <a:prstGeom prst="rect">
            <a:avLst/>
          </a:prstGeom>
          <a:noFill/>
        </p:spPr>
        <p:txBody>
          <a:bodyPr wrap="square">
            <a:spAutoFit/>
          </a:bodyPr>
          <a:lstStyle/>
          <a:p>
            <a:pPr algn="ctr"/>
            <a:r>
              <a:rPr sz="1150" b="0" i="0">
                <a:solidFill>
                  <a:srgbClr val="333333"/>
                </a:solidFill>
                <a:latin typeface="Calibri"/>
              </a:rPr>
              <a:t>~100</a:t>
            </a:r>
          </a:p>
        </p:txBody>
      </p:sp>
      <p:sp>
        <p:nvSpPr>
          <p:cNvPr id="38" name="Rectangle 37"/>
          <p:cNvSpPr/>
          <p:nvPr/>
        </p:nvSpPr>
        <p:spPr>
          <a:xfrm>
            <a:off x="8458200" y="3374136"/>
            <a:ext cx="3383280" cy="5029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49640" y="3447288"/>
            <a:ext cx="3200400" cy="384048"/>
          </a:xfrm>
          <a:prstGeom prst="rect">
            <a:avLst/>
          </a:prstGeom>
          <a:noFill/>
        </p:spPr>
        <p:txBody>
          <a:bodyPr wrap="square">
            <a:spAutoFit/>
          </a:bodyPr>
          <a:lstStyle/>
          <a:p>
            <a:pPr algn="ctr"/>
            <a:r>
              <a:rPr sz="1200" b="1" i="0">
                <a:solidFill>
                  <a:srgbClr val="FFFFFF"/>
                </a:solidFill>
                <a:latin typeface="Calibri"/>
              </a:rPr>
              <a:t>250+</a:t>
            </a:r>
          </a:p>
        </p:txBody>
      </p:sp>
      <p:sp>
        <p:nvSpPr>
          <p:cNvPr id="40" name="Rectangle 39"/>
          <p:cNvSpPr/>
          <p:nvPr/>
        </p:nvSpPr>
        <p:spPr>
          <a:xfrm>
            <a:off x="320040" y="3950208"/>
            <a:ext cx="50292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394960" y="3950208"/>
            <a:ext cx="301752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458200" y="3950208"/>
            <a:ext cx="338328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4023360"/>
            <a:ext cx="4754880" cy="384048"/>
          </a:xfrm>
          <a:prstGeom prst="rect">
            <a:avLst/>
          </a:prstGeom>
          <a:noFill/>
        </p:spPr>
        <p:txBody>
          <a:bodyPr wrap="square">
            <a:spAutoFit/>
          </a:bodyPr>
          <a:lstStyle/>
          <a:p>
            <a:pPr algn="l"/>
            <a:r>
              <a:rPr sz="1150" b="0" i="0">
                <a:solidFill>
                  <a:srgbClr val="333333"/>
                </a:solidFill>
                <a:latin typeface="Calibri"/>
              </a:rPr>
              <a:t>Sermon Podcast Subscribers</a:t>
            </a:r>
          </a:p>
        </p:txBody>
      </p:sp>
      <p:sp>
        <p:nvSpPr>
          <p:cNvPr id="44" name="TextBox 43"/>
          <p:cNvSpPr txBox="1"/>
          <p:nvPr/>
        </p:nvSpPr>
        <p:spPr>
          <a:xfrm>
            <a:off x="5394960" y="4023360"/>
            <a:ext cx="3017520" cy="384048"/>
          </a:xfrm>
          <a:prstGeom prst="rect">
            <a:avLst/>
          </a:prstGeom>
          <a:noFill/>
        </p:spPr>
        <p:txBody>
          <a:bodyPr wrap="square">
            <a:spAutoFit/>
          </a:bodyPr>
          <a:lstStyle/>
          <a:p>
            <a:pPr algn="ctr"/>
            <a:r>
              <a:rPr sz="1150" b="0" i="0">
                <a:solidFill>
                  <a:srgbClr val="333333"/>
                </a:solidFill>
                <a:latin typeface="Calibri"/>
              </a:rPr>
              <a:t>0</a:t>
            </a:r>
          </a:p>
        </p:txBody>
      </p:sp>
      <p:sp>
        <p:nvSpPr>
          <p:cNvPr id="45" name="Rectangle 44"/>
          <p:cNvSpPr/>
          <p:nvPr/>
        </p:nvSpPr>
        <p:spPr>
          <a:xfrm>
            <a:off x="8458200" y="3950208"/>
            <a:ext cx="3383280" cy="502920"/>
          </a:xfrm>
          <a:prstGeom prst="rect">
            <a:avLst/>
          </a:prstGeom>
          <a:solidFill>
            <a:srgbClr val="1A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549640" y="4023360"/>
            <a:ext cx="3200400" cy="384048"/>
          </a:xfrm>
          <a:prstGeom prst="rect">
            <a:avLst/>
          </a:prstGeom>
          <a:noFill/>
        </p:spPr>
        <p:txBody>
          <a:bodyPr wrap="square">
            <a:spAutoFit/>
          </a:bodyPr>
          <a:lstStyle/>
          <a:p>
            <a:pPr algn="ctr"/>
            <a:r>
              <a:rPr sz="1200" b="1" i="0">
                <a:solidFill>
                  <a:srgbClr val="FFFFFF"/>
                </a:solidFill>
                <a:latin typeface="Calibri"/>
              </a:rPr>
              <a:t>75+</a:t>
            </a:r>
          </a:p>
        </p:txBody>
      </p:sp>
      <p:sp>
        <p:nvSpPr>
          <p:cNvPr id="47" name="Rectangle 46"/>
          <p:cNvSpPr/>
          <p:nvPr/>
        </p:nvSpPr>
        <p:spPr>
          <a:xfrm>
            <a:off x="320040" y="4526280"/>
            <a:ext cx="5029200" cy="5029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394960" y="4526280"/>
            <a:ext cx="3017520" cy="5029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458200" y="4526280"/>
            <a:ext cx="3383280" cy="5029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2920" y="4599432"/>
            <a:ext cx="4754880" cy="384048"/>
          </a:xfrm>
          <a:prstGeom prst="rect">
            <a:avLst/>
          </a:prstGeom>
          <a:noFill/>
        </p:spPr>
        <p:txBody>
          <a:bodyPr wrap="square">
            <a:spAutoFit/>
          </a:bodyPr>
          <a:lstStyle/>
          <a:p>
            <a:pPr algn="l"/>
            <a:r>
              <a:rPr sz="1150" b="0" i="0">
                <a:solidFill>
                  <a:srgbClr val="333333"/>
                </a:solidFill>
                <a:latin typeface="Calibri"/>
              </a:rPr>
              <a:t>Youth Podcast Downloads/ep</a:t>
            </a:r>
          </a:p>
        </p:txBody>
      </p:sp>
      <p:sp>
        <p:nvSpPr>
          <p:cNvPr id="51" name="TextBox 50"/>
          <p:cNvSpPr txBox="1"/>
          <p:nvPr/>
        </p:nvSpPr>
        <p:spPr>
          <a:xfrm>
            <a:off x="5394960" y="4599432"/>
            <a:ext cx="3017520" cy="384048"/>
          </a:xfrm>
          <a:prstGeom prst="rect">
            <a:avLst/>
          </a:prstGeom>
          <a:noFill/>
        </p:spPr>
        <p:txBody>
          <a:bodyPr wrap="square">
            <a:spAutoFit/>
          </a:bodyPr>
          <a:lstStyle/>
          <a:p>
            <a:pPr algn="ctr"/>
            <a:r>
              <a:rPr sz="1150" b="0" i="0">
                <a:solidFill>
                  <a:srgbClr val="333333"/>
                </a:solidFill>
                <a:latin typeface="Calibri"/>
              </a:rPr>
              <a:t>0</a:t>
            </a:r>
          </a:p>
        </p:txBody>
      </p:sp>
      <p:sp>
        <p:nvSpPr>
          <p:cNvPr id="52" name="Rectangle 51"/>
          <p:cNvSpPr/>
          <p:nvPr/>
        </p:nvSpPr>
        <p:spPr>
          <a:xfrm>
            <a:off x="8458200" y="4526280"/>
            <a:ext cx="3383280" cy="50292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549640" y="4599432"/>
            <a:ext cx="3200400" cy="384048"/>
          </a:xfrm>
          <a:prstGeom prst="rect">
            <a:avLst/>
          </a:prstGeom>
          <a:noFill/>
        </p:spPr>
        <p:txBody>
          <a:bodyPr wrap="square">
            <a:spAutoFit/>
          </a:bodyPr>
          <a:lstStyle/>
          <a:p>
            <a:pPr algn="ctr"/>
            <a:r>
              <a:rPr sz="1200" b="1" i="0">
                <a:solidFill>
                  <a:srgbClr val="FFFFFF"/>
                </a:solidFill>
                <a:latin typeface="Calibri"/>
              </a:rPr>
              <a:t>50+</a:t>
            </a:r>
          </a:p>
        </p:txBody>
      </p:sp>
      <p:sp>
        <p:nvSpPr>
          <p:cNvPr id="54" name="Rectangle 53"/>
          <p:cNvSpPr/>
          <p:nvPr/>
        </p:nvSpPr>
        <p:spPr>
          <a:xfrm>
            <a:off x="320040" y="5102352"/>
            <a:ext cx="50292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394960" y="5102352"/>
            <a:ext cx="301752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458200" y="5102352"/>
            <a:ext cx="338328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5175504"/>
            <a:ext cx="4754880" cy="384048"/>
          </a:xfrm>
          <a:prstGeom prst="rect">
            <a:avLst/>
          </a:prstGeom>
          <a:noFill/>
        </p:spPr>
        <p:txBody>
          <a:bodyPr wrap="square">
            <a:spAutoFit/>
          </a:bodyPr>
          <a:lstStyle/>
          <a:p>
            <a:pPr algn="l"/>
            <a:r>
              <a:rPr sz="1150" b="0" i="0">
                <a:solidFill>
                  <a:srgbClr val="333333"/>
                </a:solidFill>
                <a:latin typeface="Calibri"/>
              </a:rPr>
              <a:t>Google Business Reviews</a:t>
            </a:r>
          </a:p>
        </p:txBody>
      </p:sp>
      <p:sp>
        <p:nvSpPr>
          <p:cNvPr id="58" name="TextBox 57"/>
          <p:cNvSpPr txBox="1"/>
          <p:nvPr/>
        </p:nvSpPr>
        <p:spPr>
          <a:xfrm>
            <a:off x="5394960" y="5175504"/>
            <a:ext cx="3017520" cy="384048"/>
          </a:xfrm>
          <a:prstGeom prst="rect">
            <a:avLst/>
          </a:prstGeom>
          <a:noFill/>
        </p:spPr>
        <p:txBody>
          <a:bodyPr wrap="square">
            <a:spAutoFit/>
          </a:bodyPr>
          <a:lstStyle/>
          <a:p>
            <a:pPr algn="ctr"/>
            <a:r>
              <a:rPr sz="1150" b="0" i="0">
                <a:solidFill>
                  <a:srgbClr val="333333"/>
                </a:solidFill>
                <a:latin typeface="Calibri"/>
              </a:rPr>
              <a:t>0 (no listing)</a:t>
            </a:r>
          </a:p>
        </p:txBody>
      </p:sp>
      <p:sp>
        <p:nvSpPr>
          <p:cNvPr id="59" name="Rectangle 58"/>
          <p:cNvSpPr/>
          <p:nvPr/>
        </p:nvSpPr>
        <p:spPr>
          <a:xfrm>
            <a:off x="8458200" y="5102352"/>
            <a:ext cx="3383280" cy="502920"/>
          </a:xfrm>
          <a:prstGeom prst="rect">
            <a:avLst/>
          </a:prstGeom>
          <a:solidFill>
            <a:srgbClr val="4A1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549640" y="5175504"/>
            <a:ext cx="3200400" cy="384048"/>
          </a:xfrm>
          <a:prstGeom prst="rect">
            <a:avLst/>
          </a:prstGeom>
          <a:noFill/>
        </p:spPr>
        <p:txBody>
          <a:bodyPr wrap="square">
            <a:spAutoFit/>
          </a:bodyPr>
          <a:lstStyle/>
          <a:p>
            <a:pPr algn="ctr"/>
            <a:r>
              <a:rPr sz="1200" b="1" i="0">
                <a:solidFill>
                  <a:srgbClr val="FFFFFF"/>
                </a:solidFill>
                <a:latin typeface="Calibri"/>
              </a:rPr>
              <a:t>15+</a:t>
            </a:r>
          </a:p>
        </p:txBody>
      </p:sp>
      <p:sp>
        <p:nvSpPr>
          <p:cNvPr id="61" name="Rectangle 60"/>
          <p:cNvSpPr/>
          <p:nvPr/>
        </p:nvSpPr>
        <p:spPr>
          <a:xfrm>
            <a:off x="320040" y="5678424"/>
            <a:ext cx="5029200" cy="5029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394960" y="5678424"/>
            <a:ext cx="3017520" cy="5029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8458200" y="5678424"/>
            <a:ext cx="3383280" cy="5029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02920" y="5751576"/>
            <a:ext cx="4754880" cy="384048"/>
          </a:xfrm>
          <a:prstGeom prst="rect">
            <a:avLst/>
          </a:prstGeom>
          <a:noFill/>
        </p:spPr>
        <p:txBody>
          <a:bodyPr wrap="square">
            <a:spAutoFit/>
          </a:bodyPr>
          <a:lstStyle/>
          <a:p>
            <a:pPr algn="l"/>
            <a:r>
              <a:rPr sz="1150" b="0" i="0">
                <a:solidFill>
                  <a:srgbClr val="333333"/>
                </a:solidFill>
                <a:latin typeface="Calibri"/>
              </a:rPr>
              <a:t>Ad Reach (monthly)</a:t>
            </a:r>
          </a:p>
        </p:txBody>
      </p:sp>
      <p:sp>
        <p:nvSpPr>
          <p:cNvPr id="65" name="TextBox 64"/>
          <p:cNvSpPr txBox="1"/>
          <p:nvPr/>
        </p:nvSpPr>
        <p:spPr>
          <a:xfrm>
            <a:off x="5394960" y="5751576"/>
            <a:ext cx="3017520" cy="384048"/>
          </a:xfrm>
          <a:prstGeom prst="rect">
            <a:avLst/>
          </a:prstGeom>
          <a:noFill/>
        </p:spPr>
        <p:txBody>
          <a:bodyPr wrap="square">
            <a:spAutoFit/>
          </a:bodyPr>
          <a:lstStyle/>
          <a:p>
            <a:pPr algn="ctr"/>
            <a:r>
              <a:rPr sz="1150" b="0" i="0">
                <a:solidFill>
                  <a:srgbClr val="333333"/>
                </a:solidFill>
                <a:latin typeface="Calibri"/>
              </a:rPr>
              <a:t>0</a:t>
            </a:r>
          </a:p>
        </p:txBody>
      </p:sp>
      <p:sp>
        <p:nvSpPr>
          <p:cNvPr id="66" name="Rectangle 65"/>
          <p:cNvSpPr/>
          <p:nvPr/>
        </p:nvSpPr>
        <p:spPr>
          <a:xfrm>
            <a:off x="8458200" y="5678424"/>
            <a:ext cx="3383280" cy="5029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549640" y="5751576"/>
            <a:ext cx="3200400" cy="384048"/>
          </a:xfrm>
          <a:prstGeom prst="rect">
            <a:avLst/>
          </a:prstGeom>
          <a:noFill/>
        </p:spPr>
        <p:txBody>
          <a:bodyPr wrap="square">
            <a:spAutoFit/>
          </a:bodyPr>
          <a:lstStyle/>
          <a:p>
            <a:pPr algn="ctr"/>
            <a:r>
              <a:rPr sz="1200" b="1" i="0">
                <a:solidFill>
                  <a:srgbClr val="FFFFFF"/>
                </a:solidFill>
                <a:latin typeface="Calibri"/>
              </a:rPr>
              <a:t>5,000–10,000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577840"/>
            <a:ext cx="12188952" cy="1280160"/>
          </a:xfrm>
          <a:prstGeom prst="rect">
            <a:avLst/>
          </a:prstGeom>
          <a:solidFill>
            <a:srgbClr val="0F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594360"/>
          </a:xfrm>
          <a:prstGeom prst="rect">
            <a:avLst/>
          </a:prstGeom>
          <a:noFill/>
        </p:spPr>
        <p:txBody>
          <a:bodyPr wrap="square">
            <a:spAutoFit/>
          </a:bodyPr>
          <a:lstStyle/>
          <a:p>
            <a:pPr algn="l"/>
            <a:r>
              <a:rPr sz="3000" b="1" i="0">
                <a:solidFill>
                  <a:srgbClr val="FFFFFF"/>
                </a:solidFill>
                <a:latin typeface="Calibri"/>
              </a:rPr>
              <a:t>NEXT STEPS</a:t>
            </a:r>
          </a:p>
        </p:txBody>
      </p:sp>
      <p:sp>
        <p:nvSpPr>
          <p:cNvPr id="6" name="Rectangle 5"/>
          <p:cNvSpPr/>
          <p:nvPr/>
        </p:nvSpPr>
        <p:spPr>
          <a:xfrm>
            <a:off x="502920" y="822960"/>
            <a:ext cx="27432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987552"/>
            <a:ext cx="10972800" cy="365760"/>
          </a:xfrm>
          <a:prstGeom prst="rect">
            <a:avLst/>
          </a:prstGeom>
          <a:noFill/>
        </p:spPr>
        <p:txBody>
          <a:bodyPr wrap="square">
            <a:spAutoFit/>
          </a:bodyPr>
          <a:lstStyle/>
          <a:p>
            <a:pPr algn="l"/>
            <a:r>
              <a:rPr sz="1400" b="0" i="0">
                <a:solidFill>
                  <a:srgbClr val="CCDDFF"/>
                </a:solidFill>
                <a:latin typeface="Calibri"/>
              </a:rPr>
              <a:t>What happens after today's meeting:</a:t>
            </a:r>
          </a:p>
        </p:txBody>
      </p:sp>
      <p:sp>
        <p:nvSpPr>
          <p:cNvPr id="8" name="Rectangle 7"/>
          <p:cNvSpPr/>
          <p:nvPr/>
        </p:nvSpPr>
        <p:spPr>
          <a:xfrm>
            <a:off x="502920" y="1554480"/>
            <a:ext cx="640080" cy="64008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645920"/>
            <a:ext cx="640080" cy="475488"/>
          </a:xfrm>
          <a:prstGeom prst="rect">
            <a:avLst/>
          </a:prstGeom>
          <a:noFill/>
        </p:spPr>
        <p:txBody>
          <a:bodyPr wrap="square">
            <a:spAutoFit/>
          </a:bodyPr>
          <a:lstStyle/>
          <a:p>
            <a:pPr algn="ctr"/>
            <a:r>
              <a:rPr sz="2200" b="1" i="0">
                <a:solidFill>
                  <a:srgbClr val="1A3A6B"/>
                </a:solidFill>
                <a:latin typeface="Calibri"/>
              </a:rPr>
              <a:t>1</a:t>
            </a:r>
          </a:p>
        </p:txBody>
      </p:sp>
      <p:sp>
        <p:nvSpPr>
          <p:cNvPr id="10" name="TextBox 9"/>
          <p:cNvSpPr txBox="1"/>
          <p:nvPr/>
        </p:nvSpPr>
        <p:spPr>
          <a:xfrm>
            <a:off x="1280160" y="1554480"/>
            <a:ext cx="4663440" cy="384048"/>
          </a:xfrm>
          <a:prstGeom prst="rect">
            <a:avLst/>
          </a:prstGeom>
          <a:noFill/>
        </p:spPr>
        <p:txBody>
          <a:bodyPr wrap="square">
            <a:spAutoFit/>
          </a:bodyPr>
          <a:lstStyle/>
          <a:p>
            <a:pPr algn="l"/>
            <a:r>
              <a:rPr sz="1400" b="1" i="0">
                <a:solidFill>
                  <a:srgbClr val="FFFFFF"/>
                </a:solidFill>
                <a:latin typeface="Calibri"/>
              </a:rPr>
              <a:t>Select your option</a:t>
            </a:r>
          </a:p>
        </p:txBody>
      </p:sp>
      <p:sp>
        <p:nvSpPr>
          <p:cNvPr id="11" name="TextBox 10"/>
          <p:cNvSpPr txBox="1"/>
          <p:nvPr/>
        </p:nvSpPr>
        <p:spPr>
          <a:xfrm>
            <a:off x="1280160" y="1965960"/>
            <a:ext cx="4663440" cy="1097280"/>
          </a:xfrm>
          <a:prstGeom prst="rect">
            <a:avLst/>
          </a:prstGeom>
          <a:noFill/>
        </p:spPr>
        <p:txBody>
          <a:bodyPr wrap="square">
            <a:spAutoFit/>
          </a:bodyPr>
          <a:lstStyle/>
          <a:p>
            <a:pPr algn="l"/>
            <a:r>
              <a:rPr sz="1100" b="0" i="0">
                <a:solidFill>
                  <a:srgbClr val="BBCCEE"/>
                </a:solidFill>
                <a:latin typeface="Calibri"/>
              </a:rPr>
              <a:t>Option A (S2T produces) or Option B (DIY with S2T setup)
No pressure — both paths get you moving immediately</a:t>
            </a:r>
          </a:p>
        </p:txBody>
      </p:sp>
      <p:sp>
        <p:nvSpPr>
          <p:cNvPr id="12" name="Rectangle 11"/>
          <p:cNvSpPr/>
          <p:nvPr/>
        </p:nvSpPr>
        <p:spPr>
          <a:xfrm>
            <a:off x="6263640" y="1554480"/>
            <a:ext cx="640080" cy="64008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3640" y="1645920"/>
            <a:ext cx="640080" cy="475488"/>
          </a:xfrm>
          <a:prstGeom prst="rect">
            <a:avLst/>
          </a:prstGeom>
          <a:noFill/>
        </p:spPr>
        <p:txBody>
          <a:bodyPr wrap="square">
            <a:spAutoFit/>
          </a:bodyPr>
          <a:lstStyle/>
          <a:p>
            <a:pPr algn="ctr"/>
            <a:r>
              <a:rPr sz="2200" b="1" i="0">
                <a:solidFill>
                  <a:srgbClr val="1A3A6B"/>
                </a:solidFill>
                <a:latin typeface="Calibri"/>
              </a:rPr>
              <a:t>2</a:t>
            </a:r>
          </a:p>
        </p:txBody>
      </p:sp>
      <p:sp>
        <p:nvSpPr>
          <p:cNvPr id="14" name="TextBox 13"/>
          <p:cNvSpPr txBox="1"/>
          <p:nvPr/>
        </p:nvSpPr>
        <p:spPr>
          <a:xfrm>
            <a:off x="7040879" y="1554480"/>
            <a:ext cx="4663440" cy="384048"/>
          </a:xfrm>
          <a:prstGeom prst="rect">
            <a:avLst/>
          </a:prstGeom>
          <a:noFill/>
        </p:spPr>
        <p:txBody>
          <a:bodyPr wrap="square">
            <a:spAutoFit/>
          </a:bodyPr>
          <a:lstStyle/>
          <a:p>
            <a:pPr algn="l"/>
            <a:r>
              <a:rPr sz="1400" b="1" i="0">
                <a:solidFill>
                  <a:srgbClr val="FFFFFF"/>
                </a:solidFill>
                <a:latin typeface="Calibri"/>
              </a:rPr>
              <a:t>Grant page access</a:t>
            </a:r>
          </a:p>
        </p:txBody>
      </p:sp>
      <p:sp>
        <p:nvSpPr>
          <p:cNvPr id="15" name="TextBox 14"/>
          <p:cNvSpPr txBox="1"/>
          <p:nvPr/>
        </p:nvSpPr>
        <p:spPr>
          <a:xfrm>
            <a:off x="7040879" y="1965960"/>
            <a:ext cx="4663440" cy="1097280"/>
          </a:xfrm>
          <a:prstGeom prst="rect">
            <a:avLst/>
          </a:prstGeom>
          <a:noFill/>
        </p:spPr>
        <p:txBody>
          <a:bodyPr wrap="square">
            <a:spAutoFit/>
          </a:bodyPr>
          <a:lstStyle/>
          <a:p>
            <a:pPr algn="l"/>
            <a:r>
              <a:rPr sz="1100" b="0" i="0">
                <a:solidFill>
                  <a:srgbClr val="BBCCEE"/>
                </a:solidFill>
                <a:latin typeface="Calibri"/>
              </a:rPr>
              <a:t>Facebook page admin + YouTube channel manager access to S2T
This allows us to launch the ad and optimize your YouTube</a:t>
            </a:r>
          </a:p>
        </p:txBody>
      </p:sp>
      <p:sp>
        <p:nvSpPr>
          <p:cNvPr id="16" name="Rectangle 15"/>
          <p:cNvSpPr/>
          <p:nvPr/>
        </p:nvSpPr>
        <p:spPr>
          <a:xfrm>
            <a:off x="502920" y="3383280"/>
            <a:ext cx="640080" cy="64008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3474720"/>
            <a:ext cx="640080" cy="475488"/>
          </a:xfrm>
          <a:prstGeom prst="rect">
            <a:avLst/>
          </a:prstGeom>
          <a:noFill/>
        </p:spPr>
        <p:txBody>
          <a:bodyPr wrap="square">
            <a:spAutoFit/>
          </a:bodyPr>
          <a:lstStyle/>
          <a:p>
            <a:pPr algn="ctr"/>
            <a:r>
              <a:rPr sz="2200" b="1" i="0">
                <a:solidFill>
                  <a:srgbClr val="1A3A6B"/>
                </a:solidFill>
                <a:latin typeface="Calibri"/>
              </a:rPr>
              <a:t>3</a:t>
            </a:r>
          </a:p>
        </p:txBody>
      </p:sp>
      <p:sp>
        <p:nvSpPr>
          <p:cNvPr id="18" name="TextBox 17"/>
          <p:cNvSpPr txBox="1"/>
          <p:nvPr/>
        </p:nvSpPr>
        <p:spPr>
          <a:xfrm>
            <a:off x="1280160" y="3383280"/>
            <a:ext cx="4663440" cy="384048"/>
          </a:xfrm>
          <a:prstGeom prst="rect">
            <a:avLst/>
          </a:prstGeom>
          <a:noFill/>
        </p:spPr>
        <p:txBody>
          <a:bodyPr wrap="square">
            <a:spAutoFit/>
          </a:bodyPr>
          <a:lstStyle/>
          <a:p>
            <a:pPr algn="l"/>
            <a:r>
              <a:rPr sz="1400" b="1" i="0">
                <a:solidFill>
                  <a:srgbClr val="FFFFFF"/>
                </a:solidFill>
                <a:latin typeface="Calibri"/>
              </a:rPr>
              <a:t>Identify youth hosts</a:t>
            </a:r>
          </a:p>
        </p:txBody>
      </p:sp>
      <p:sp>
        <p:nvSpPr>
          <p:cNvPr id="19" name="TextBox 18"/>
          <p:cNvSpPr txBox="1"/>
          <p:nvPr/>
        </p:nvSpPr>
        <p:spPr>
          <a:xfrm>
            <a:off x="1280160" y="3794760"/>
            <a:ext cx="4663440" cy="1097280"/>
          </a:xfrm>
          <a:prstGeom prst="rect">
            <a:avLst/>
          </a:prstGeom>
          <a:noFill/>
        </p:spPr>
        <p:txBody>
          <a:bodyPr wrap="square">
            <a:spAutoFit/>
          </a:bodyPr>
          <a:lstStyle/>
          <a:p>
            <a:pPr algn="l"/>
            <a:r>
              <a:rPr sz="1100" b="0" i="0">
                <a:solidFill>
                  <a:srgbClr val="BBCCEE"/>
                </a:solidFill>
                <a:latin typeface="Calibri"/>
              </a:rPr>
              <a:t>Choose 2–3 teens/young adults from your ministry to host the youth shows
We'll train them and handle all the technical setup</a:t>
            </a:r>
          </a:p>
        </p:txBody>
      </p:sp>
      <p:sp>
        <p:nvSpPr>
          <p:cNvPr id="20" name="Rectangle 19"/>
          <p:cNvSpPr/>
          <p:nvPr/>
        </p:nvSpPr>
        <p:spPr>
          <a:xfrm>
            <a:off x="6263640" y="3383280"/>
            <a:ext cx="640080" cy="64008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3474720"/>
            <a:ext cx="640080" cy="475488"/>
          </a:xfrm>
          <a:prstGeom prst="rect">
            <a:avLst/>
          </a:prstGeom>
          <a:noFill/>
        </p:spPr>
        <p:txBody>
          <a:bodyPr wrap="square">
            <a:spAutoFit/>
          </a:bodyPr>
          <a:lstStyle/>
          <a:p>
            <a:pPr algn="ctr"/>
            <a:r>
              <a:rPr sz="2200" b="1" i="0">
                <a:solidFill>
                  <a:srgbClr val="1A3A6B"/>
                </a:solidFill>
                <a:latin typeface="Calibri"/>
              </a:rPr>
              <a:t>4</a:t>
            </a:r>
          </a:p>
        </p:txBody>
      </p:sp>
      <p:sp>
        <p:nvSpPr>
          <p:cNvPr id="22" name="TextBox 21"/>
          <p:cNvSpPr txBox="1"/>
          <p:nvPr/>
        </p:nvSpPr>
        <p:spPr>
          <a:xfrm>
            <a:off x="7040879" y="3383280"/>
            <a:ext cx="4663440" cy="384048"/>
          </a:xfrm>
          <a:prstGeom prst="rect">
            <a:avLst/>
          </a:prstGeom>
          <a:noFill/>
        </p:spPr>
        <p:txBody>
          <a:bodyPr wrap="square">
            <a:spAutoFit/>
          </a:bodyPr>
          <a:lstStyle/>
          <a:p>
            <a:pPr algn="l"/>
            <a:r>
              <a:rPr sz="1400" b="1" i="0">
                <a:solidFill>
                  <a:srgbClr val="FFFFFF"/>
                </a:solidFill>
                <a:latin typeface="Calibri"/>
              </a:rPr>
              <a:t>We go to work</a:t>
            </a:r>
          </a:p>
        </p:txBody>
      </p:sp>
      <p:sp>
        <p:nvSpPr>
          <p:cNvPr id="23" name="TextBox 22"/>
          <p:cNvSpPr txBox="1"/>
          <p:nvPr/>
        </p:nvSpPr>
        <p:spPr>
          <a:xfrm>
            <a:off x="7040879" y="3794760"/>
            <a:ext cx="4663440" cy="1097280"/>
          </a:xfrm>
          <a:prstGeom prst="rect">
            <a:avLst/>
          </a:prstGeom>
          <a:noFill/>
        </p:spPr>
        <p:txBody>
          <a:bodyPr wrap="square">
            <a:spAutoFit/>
          </a:bodyPr>
          <a:lstStyle/>
          <a:p>
            <a:pPr algn="l"/>
            <a:r>
              <a:rPr sz="1100" b="0" i="0">
                <a:solidFill>
                  <a:srgbClr val="BBCCEE"/>
                </a:solidFill>
                <a:latin typeface="Calibri"/>
              </a:rPr>
              <a:t>Facebook ad live within 48 hours
Podcast channel created + Episode 1 published within 2 weeks</a:t>
            </a:r>
          </a:p>
        </p:txBody>
      </p:sp>
      <p:sp>
        <p:nvSpPr>
          <p:cNvPr id="24" name="TextBox 23"/>
          <p:cNvSpPr txBox="1"/>
          <p:nvPr/>
        </p:nvSpPr>
        <p:spPr>
          <a:xfrm>
            <a:off x="502920" y="5669280"/>
            <a:ext cx="7315200" cy="411480"/>
          </a:xfrm>
          <a:prstGeom prst="rect">
            <a:avLst/>
          </a:prstGeom>
          <a:noFill/>
        </p:spPr>
        <p:txBody>
          <a:bodyPr wrap="square">
            <a:spAutoFit/>
          </a:bodyPr>
          <a:lstStyle/>
          <a:p>
            <a:pPr algn="l"/>
            <a:r>
              <a:rPr sz="1300" b="1" i="0">
                <a:solidFill>
                  <a:srgbClr val="FFFFFF"/>
                </a:solidFill>
                <a:latin typeface="Calibri"/>
              </a:rPr>
              <a:t>S2T Designs  |  David Smith</a:t>
            </a:r>
          </a:p>
        </p:txBody>
      </p:sp>
      <p:sp>
        <p:nvSpPr>
          <p:cNvPr id="25" name="TextBox 24"/>
          <p:cNvSpPr txBox="1"/>
          <p:nvPr/>
        </p:nvSpPr>
        <p:spPr>
          <a:xfrm>
            <a:off x="502920" y="6016752"/>
            <a:ext cx="7315200" cy="365760"/>
          </a:xfrm>
          <a:prstGeom prst="rect">
            <a:avLst/>
          </a:prstGeom>
          <a:noFill/>
        </p:spPr>
        <p:txBody>
          <a:bodyPr wrap="square">
            <a:spAutoFit/>
          </a:bodyPr>
          <a:lstStyle/>
          <a:p>
            <a:pPr algn="l"/>
            <a:r>
              <a:rPr sz="1200" b="0" i="0">
                <a:solidFill>
                  <a:srgbClr val="AABBDD"/>
                </a:solidFill>
                <a:latin typeface="Calibri"/>
              </a:rPr>
              <a:t>david@s2tdesigns.com  |  s2tdesigns.com</a:t>
            </a:r>
          </a:p>
        </p:txBody>
      </p:sp>
      <p:sp>
        <p:nvSpPr>
          <p:cNvPr id="26" name="TextBox 25"/>
          <p:cNvSpPr txBox="1"/>
          <p:nvPr/>
        </p:nvSpPr>
        <p:spPr>
          <a:xfrm>
            <a:off x="7772400" y="5559552"/>
            <a:ext cx="4114800" cy="1097280"/>
          </a:xfrm>
          <a:prstGeom prst="rect">
            <a:avLst/>
          </a:prstGeom>
          <a:noFill/>
        </p:spPr>
        <p:txBody>
          <a:bodyPr wrap="square">
            <a:spAutoFit/>
          </a:bodyPr>
          <a:lstStyle/>
          <a:p>
            <a:pPr algn="r"/>
            <a:r>
              <a:rPr sz="1800" b="1" i="0">
                <a:solidFill>
                  <a:srgbClr val="C9A84C"/>
                </a:solidFill>
                <a:latin typeface="Calibri"/>
              </a:rPr>
              <a:t>Let's build something
LEBC will be proud of.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